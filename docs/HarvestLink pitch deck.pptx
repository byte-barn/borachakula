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 Speaker: Faiza (product manager) or John (team leader). HOOK (point at the three photos): “A farmer in Kirinyaga plants tomatoes without knowing who will buy them. At harvest, she sells to whoever comes to the farm gate, the smaller tomatoes go to waste, and she pays for her own pickup — so does her neighbour, on the same road.” WHO WE ARE: “We are Team Bora Chakula from Murang’a University of Technology, and this is HarvestLink. John Mwangi leads the team and the database work with John Maina; Faiza is our product manager; David and SherylAnn built the front end and the design. We’re entering Track 5, Water Stewardship and Climate-Smart Agriculture, with Sustainable Transport and Logistics as our second track.” WHAT IT IS: “HarvestLink flips the order: sell before you harvest. Buyers post what they need weeks ahead; we combine small farms to fill each order, find a buyer for every grade, and send one truck instead of many. It runs on Oracle APEX and Autonomous Database on OCI.” Transition: “Let’s look at why this matters.” → Slide 2. The three photos are illustrative; if a judge asks,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ONE SENTENCE: “Kenyan smallholders grow first and look for a buyer at harvest.” WHAT HAPPENS THEN: “With no buyer lined up, the farmer takes whatever the broker at the farm gate offers. The smaller or marked produce — Grade B and C — often has no buyer at all. And every farmer hires a separate pickup down the same road.” WHY IT MATTERS (point at the number): “A 2022 IFPRI study in Laikipia found about 28% of tomato value is lost between the farm and the point of sale. That is income the farmer never sees and food that never reaches a plate.” WHO: “Farmers lose income, and buyers — grocers, schools, processors — can’t get reliable volume from one small farm. The people who can change this are buyers willing to commit early, and the cooperatives and field agents who already group farmers.” Transition: “So we asked: what if the buyer came first?” → Slide 3. If asked about the source: Gatere, Hoffmann, Murphy and Scollard, “Post-harvest Losses and Food Safety in Tomatoes Produced in Laikipia County”, IFPRI 2022: 28.2% of value lost farmer to point of sale. It is one county and one crop; we use it as our baseline loss rate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on the slide (click through 7 steps), then 2:30 live demo. Present from the browser so the animation plays. OPENING (before clicking): “HarvestLink flips the order: the buyer comes first. Here is how one order moves through our Oracle stack. Everything right of the browser runs inside one Autonomous AI Database on OCI — the app, the logic and the data live together.” CLICK 1: “A buyer — Kijani Fresh Grocers — posts 2 tonnes of Grade A tomatoes in an Oracle APEX form, served by ORDS.” CLICK 2: “The page doesn’t write to tables directly. It calls our PL/SQL API, create_demand, which checks the rules: quantity, delivery date, price.” CLICK 3: “The demand is saved, and a database trigger re-runs matching automatically. No ‘run matching’ button.” CLICK 4: “Our engine ranks every farm on grade, harvest window, quantity and distance, combines farms until the order is full, and saves a plain-language reason for each match.” CLICK 5: “The buyer sees the matches and the reasons — read from views, so every number on screen comes from a query. Select AI can reword the reasons in English or Kiswahili.” CLICK 6: “A farmer — or a field agent for farmers without smartphones — confirms 650 kilograms.” CLICK 7: “The match becomes Accepted, and a trigger writes the agreed terms to an Oracle blockchain table: append-only, SHA2-512 hash-chained. Nobody can edit it, not even us.” LINK: “You can scan the code to open the live app; the judge login is in our submission. Let me show you.” → switch to the browser. DEMO SCRIPT (2:30) — run begin hl_demo.reset; end; before presenting and open the app the day before (Always Free databases stop after 7 days idle): 1. Buyer view: the 2 t Grade A tomato demand. (0:20) 2. Matches: four Kirinyaga farms cover 1,900 kg (95%); read one match’s reasons; Joseph Mugo is not matched because his harvest starts too late. (0:45) 3. Farmer view: confirm an offer; the fulfilment bar moves. (0:25) 4. Route by grade: 640 kg Grade B and 310 kg Grade C go to other outlets. (0:25) 5. Logistics map and impact page: one shared route, km and CO₂ saved, each figure tagged live, simulated or demo. (0:35) Back up: a recorded 3-minute walkthrough in case the venue network fails. If a judge asks for the code: github.com/Byte-Barn/BoraChakula (db/02_match_pkg.sql is the engine, db/06_agreements.sql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1:15. WHAT’S UNIQUE (walk the table, left to right): “Today the price is set at harvest by whoever shows up. With HarvestLink it’s agreed weeks before, by a buyer who needs the produce. One small farm can’t fill a 2-tonne order; we combine several. Lower grades usually get dumped; we route them to markets, schools and processors. Instead of one pickup per farmer, there’s one shared route. And the deal isn’t a verbal promise — it’s written to a ledger nobody can edit, not even us.” Also worth saying: the matching runs inside the database as PL/SQL, so every number on screen comes from a query a judge can inspect, and every match explains itself in plain language. GREEN ECONOMY OUTCOMES: “We track three outcomes. Produce sold before harvest — counted live from the records. Food loss avoided — the matched kilograms times the 28% baseline loss from the IFPRI study. And kilometres and CO₂ saved — separate pickup trips compared with one shared route, using Kenyan fleet emission factors from GIZ: 216 grams of CO₂ per km for a pickup, 760 for a truck. Our road distances are simulated for now — straight-line distance times 1.3 — and the app labels them that way.” VALIDATION: “To prove it, we’ll run a pilot with real deliveries and compare kilograms sold, waste and trip records against farmers who keep selling to brokers.” If asked about the numbers: every impact figure in the app carries a tag — live, simulated or demo — and a ‘how this is calculated’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0:30. This slide stays up for the 3 minutes of questions, so judges can scan the codes. NEXT STEP: “Our smallest credible next step is an 8-week pilot: one Nairobi grocer, one farmer cooperative in Kirinyaga and one field agent, using the app exactly as it runs today.” ASK: “We’re asking for two things: introductions to a buyer and a cooperative for that pilot, and Oracle mentorship and OCI credits to move from Always Free to production.” CLOSE (pause, then): “Sell before you harvest. The codes take you to the live app and our code. Thank you.” LINKS: Live app — https://gc0208e4d90b947-harvestlinkstrathmore.adb.eu-frankfurt-1.oraclecloudapps.com/ords/r/harvestlink/harvestlink/ (sign-in required; judge login in the submission). Code — https://github.com/Byte-Barn/BoraChakula LIKELY QUESTIONS — short answers: • What if a farmer doesn’t deliver? Matching re-runs automatically; the next-ranked farm fills the gap, and the ledger shows who confirmed. • Farmers without smartphones? A field agent records the farmer’s answer (there is a form for this); SMS and USSD are on the roadmap. • Payments? Not built yet; M-Pesa payouts are on the roadmap. Today the ledger locks in the agreed price and quantity. • Is the blockchain real? Yes — an Oracle Database blockchain table: rows can’t be edited, each is SHA2-512 hash-chained, and we can verify the chain live. • Are the impact numbers real? Each one is tagged live, simulated or demo in the app; demo people and businesses are fictional. • Water and climate (Track 5)? Food that is wasted also wastes the water, fertiliser and fuel used to grow it; selling every grade before harvest protects that investment. • Data privacy? Built for the Kenya Data Protection Act: consent recorded, phone numbers hidden until the farmer accepts, data export and account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817827"/>
          </a:xfrm>
          <a:prstGeom prst="rect">
            <a:avLst/>
          </a:prstGeom>
          <a:noFill/>
          <a:ln/>
        </p:spPr>
        <p:txBody>
          <a:bodyPr wrap="square" lIns="0" tIns="0" rIns="0" bIns="0" rtlCol="0" anchor="t"/>
          <a:lstStyle>
            <a:lvl1pPr algn="l" indent="0" marL="0">
              <a:lnSpc>
                <a:spcPct val="115000"/>
              </a:lnSpc>
              <a:buNone/>
              <a:defRPr lang="en-US" sz="3200" dirty="0">
                <a:solidFill>
                  <a:srgbClr val="1D231F"/>
                </a:solidFill>
                <a:latin typeface="Fraunces" pitchFamily="34" charset="0"/>
                <a:ea typeface="Fraunces" pitchFamily="34" charset="-122"/>
                <a:cs typeface="Fraunce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224947"/>
            <a:ext cx="10566400" cy="3820253"/>
          </a:xfrm>
          <a:prstGeom prst="rect">
            <a:avLst/>
          </a:prstGeom>
          <a:noFill/>
          <a:ln/>
        </p:spPr>
        <p:txBody>
          <a:bodyPr wrap="square" lIns="0" tIns="0" rIns="0" bIns="0" rtlCol="0" anchor="t"/>
          <a:lstStyle>
            <a:lvl1pPr algn="l" indent="0" marL="0">
              <a:lnSpc>
                <a:spcPct val="140000"/>
              </a:lnSpc>
              <a:buNone/>
              <a:defRPr lang="en-US" sz="1600" dirty="0">
                <a:solidFill>
                  <a:srgbClr val="1D23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817827"/>
          </a:xfrm>
          <a:prstGeom prst="rect">
            <a:avLst/>
          </a:prstGeom>
          <a:noFill/>
          <a:ln/>
        </p:spPr>
        <p:txBody>
          <a:bodyPr wrap="square" lIns="0" tIns="0" rIns="0" bIns="0" rtlCol="0" anchor="t"/>
          <a:lstStyle>
            <a:lvl1pPr algn="l" indent="0" marL="0">
              <a:lnSpc>
                <a:spcPct val="115000"/>
              </a:lnSpc>
              <a:buNone/>
              <a:defRPr lang="en-US" sz="3200" dirty="0">
                <a:solidFill>
                  <a:srgbClr val="1D231F"/>
                </a:solidFill>
                <a:latin typeface="Fraunces" pitchFamily="34" charset="0"/>
                <a:ea typeface="Fraunces" pitchFamily="34" charset="-122"/>
                <a:cs typeface="Fraunce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224947"/>
            <a:ext cx="10566400" cy="3820253"/>
          </a:xfrm>
          <a:prstGeom prst="rect">
            <a:avLst/>
          </a:prstGeom>
          <a:noFill/>
          <a:ln/>
        </p:spPr>
        <p:txBody>
          <a:bodyPr wrap="square" lIns="0" tIns="0" rIns="0" bIns="0" rtlCol="0" anchor="t"/>
          <a:lstStyle>
            <a:lvl1pPr algn="l" indent="0" marL="0">
              <a:lnSpc>
                <a:spcPct val="140000"/>
              </a:lnSpc>
              <a:buNone/>
              <a:defRPr lang="en-US" sz="1600" dirty="0">
                <a:solidFill>
                  <a:srgbClr val="1D23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4826000" cy="6858000"/>
          </a:xfrm>
          <a:prstGeom prst="rect">
            <a:avLst/>
          </a:prstGeom>
          <a:solidFill>
            <a:srgbClr val="11301F"/>
          </a:solidFill>
          <a:ln/>
        </p:spPr>
      </p:sp>
      <p:pic>
        <p:nvPicPr>
          <p:cNvPr id="3" name="Image 0" descr="HarvestLink linked-leaf mark">    </p:cNvPr>
          <p:cNvPicPr>
            <a:picLocks noChangeAspect="1"/>
          </p:cNvPicPr>
          <p:nvPr/>
        </p:nvPicPr>
        <p:blipFill>
          <a:blip r:embed="rId1"/>
          <a:srcRect l="0" r="0" t="0" b="0"/>
          <a:stretch/>
        </p:blipFill>
        <p:spPr>
          <a:xfrm>
            <a:off x="508000" y="607020"/>
            <a:ext cx="406400" cy="406400"/>
          </a:xfrm>
          <a:prstGeom prst="rect">
            <a:avLst/>
          </a:prstGeom>
        </p:spPr>
      </p:pic>
      <p:sp>
        <p:nvSpPr>
          <p:cNvPr id="4" name="Text 1"/>
          <p:cNvSpPr/>
          <p:nvPr/>
        </p:nvSpPr>
        <p:spPr>
          <a:xfrm>
            <a:off x="1041400" y="558800"/>
            <a:ext cx="203096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7F3EA"/>
                </a:solidFill>
                <a:latin typeface="Fraunces" pitchFamily="18" charset="0"/>
                <a:ea typeface="Fraunces" pitchFamily="18" charset="-122"/>
                <a:cs typeface="Fraunces" pitchFamily="18" charset="-120"/>
              </a:rPr>
              <a:t>HarvestLink</a:t>
            </a:r>
            <a:endParaRPr lang="en-US" sz="2200" dirty="0"/>
          </a:p>
        </p:txBody>
      </p:sp>
      <p:sp>
        <p:nvSpPr>
          <p:cNvPr id="5" name="Text 2"/>
          <p:cNvSpPr/>
          <p:nvPr/>
        </p:nvSpPr>
        <p:spPr>
          <a:xfrm>
            <a:off x="1041400" y="878814"/>
            <a:ext cx="1743273" cy="208227"/>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DFEADF"/>
                </a:solidFill>
                <a:latin typeface="IBM Plex Sans" pitchFamily="34" charset="0"/>
                <a:ea typeface="IBM Plex Sans" pitchFamily="34" charset="-122"/>
                <a:cs typeface="IBM Plex Sans" pitchFamily="34" charset="-120"/>
              </a:rPr>
              <a:t>by Bora Chakula</a:t>
            </a:r>
            <a:endParaRPr lang="en-US" sz="1200" dirty="0"/>
          </a:p>
        </p:txBody>
      </p:sp>
      <p:sp>
        <p:nvSpPr>
          <p:cNvPr id="6" name="Text 3"/>
          <p:cNvSpPr/>
          <p:nvPr/>
        </p:nvSpPr>
        <p:spPr>
          <a:xfrm>
            <a:off x="508000" y="1523272"/>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CFA6"/>
                </a:solidFill>
                <a:latin typeface="IBM Plex Sans" pitchFamily="34" charset="0"/>
                <a:ea typeface="IBM Plex Sans" pitchFamily="34" charset="-122"/>
                <a:cs typeface="IBM Plex Sans" pitchFamily="34" charset="-120"/>
              </a:rPr>
              <a:t>GREEN TECH HACKATHON 2026</a:t>
            </a:r>
            <a:endParaRPr lang="en-US" sz="1200" dirty="0"/>
          </a:p>
        </p:txBody>
      </p:sp>
      <p:sp>
        <p:nvSpPr>
          <p:cNvPr id="7" name="Text 4"/>
          <p:cNvSpPr/>
          <p:nvPr>
            <p:ph type="title"/>
          </p:nvPr>
        </p:nvSpPr>
        <p:spPr>
          <a:xfrm>
            <a:off x="508000" y="1914393"/>
            <a:ext cx="3924300"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3EA"/>
                </a:solidFill>
                <a:latin typeface="Fraunces" pitchFamily="18" charset="0"/>
                <a:ea typeface="Fraunces" pitchFamily="18" charset="-122"/>
                <a:cs typeface="Fraunces" pitchFamily="18" charset="-120"/>
              </a:rPr>
              <a:t>Sell before you harvest.</a:t>
            </a:r>
            <a:endParaRPr lang="en-US" sz="4000" dirty="0"/>
          </a:p>
        </p:txBody>
      </p:sp>
      <p:sp>
        <p:nvSpPr>
          <p:cNvPr id="8" name="Text 5"/>
          <p:cNvSpPr/>
          <p:nvPr/>
        </p:nvSpPr>
        <p:spPr>
          <a:xfrm>
            <a:off x="508000" y="3209793"/>
            <a:ext cx="3924300"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FEADF"/>
                </a:solidFill>
                <a:latin typeface="IBM Plex Sans" pitchFamily="34" charset="0"/>
                <a:ea typeface="IBM Plex Sans" pitchFamily="34" charset="-122"/>
                <a:cs typeface="IBM Plex Sans" pitchFamily="34" charset="-120"/>
              </a:rPr>
              <a:t>Buyers post what they need weeks before harvest. We combine smallholder farms to fill each order, find a buyer for every grade and send one truck instead of many.</a:t>
            </a:r>
            <a:endParaRPr lang="en-US" sz="1300" dirty="0"/>
          </a:p>
        </p:txBody>
      </p:sp>
      <p:sp>
        <p:nvSpPr>
          <p:cNvPr id="9" name="Shape 6"/>
          <p:cNvSpPr/>
          <p:nvPr/>
        </p:nvSpPr>
        <p:spPr>
          <a:xfrm>
            <a:off x="508000" y="4599054"/>
            <a:ext cx="3810000" cy="0"/>
          </a:xfrm>
          <a:prstGeom prst="line">
            <a:avLst/>
          </a:prstGeom>
          <a:noFill/>
          <a:ln w="6350">
            <a:solidFill>
              <a:srgbClr val="2E5A42"/>
            </a:solidFill>
            <a:prstDash val="solid"/>
          </a:ln>
        </p:spPr>
      </p:sp>
      <p:sp>
        <p:nvSpPr>
          <p:cNvPr id="10" name="Text 7"/>
          <p:cNvSpPr/>
          <p:nvPr/>
        </p:nvSpPr>
        <p:spPr>
          <a:xfrm>
            <a:off x="508000" y="4777912"/>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CFA6"/>
                </a:solidFill>
                <a:latin typeface="IBM Plex Sans" pitchFamily="34" charset="0"/>
                <a:ea typeface="IBM Plex Sans" pitchFamily="34" charset="-122"/>
                <a:cs typeface="IBM Plex Sans" pitchFamily="34" charset="-120"/>
              </a:rPr>
              <a:t>TRACK</a:t>
            </a:r>
            <a:endParaRPr lang="en-US" sz="1200" dirty="0"/>
          </a:p>
        </p:txBody>
      </p:sp>
      <p:sp>
        <p:nvSpPr>
          <p:cNvPr id="11" name="Text 8"/>
          <p:cNvSpPr/>
          <p:nvPr/>
        </p:nvSpPr>
        <p:spPr>
          <a:xfrm>
            <a:off x="508000" y="5016633"/>
            <a:ext cx="3924300" cy="48762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3EA"/>
                </a:solidFill>
                <a:latin typeface="IBM Plex Sans" pitchFamily="34" charset="0"/>
                <a:ea typeface="IBM Plex Sans" pitchFamily="34" charset="-122"/>
                <a:cs typeface="IBM Plex Sans" pitchFamily="34" charset="-120"/>
              </a:rPr>
              <a:t>5 · Water Stewardship and Climate-Smart Agriculture</a:t>
            </a:r>
            <a:endParaRPr lang="en-US" sz="1400" dirty="0"/>
          </a:p>
        </p:txBody>
      </p:sp>
      <p:sp>
        <p:nvSpPr>
          <p:cNvPr id="12" name="Text 9"/>
          <p:cNvSpPr/>
          <p:nvPr/>
        </p:nvSpPr>
        <p:spPr>
          <a:xfrm>
            <a:off x="508000" y="5504259"/>
            <a:ext cx="39243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FEADF"/>
                </a:solidFill>
                <a:latin typeface="IBM Plex Sans" pitchFamily="34" charset="0"/>
                <a:ea typeface="IBM Plex Sans" pitchFamily="34" charset="-122"/>
                <a:cs typeface="IBM Plex Sans" pitchFamily="34" charset="-120"/>
              </a:rPr>
              <a:t>Secondary: 4 · Sustainable Transport and Logistics</a:t>
            </a:r>
            <a:endParaRPr lang="en-US" sz="1200" dirty="0"/>
          </a:p>
        </p:txBody>
      </p:sp>
      <p:sp>
        <p:nvSpPr>
          <p:cNvPr id="13" name="Text 10"/>
          <p:cNvSpPr/>
          <p:nvPr/>
        </p:nvSpPr>
        <p:spPr>
          <a:xfrm>
            <a:off x="508000" y="5829366"/>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CFA6"/>
                </a:solidFill>
                <a:latin typeface="IBM Plex Sans" pitchFamily="34" charset="0"/>
                <a:ea typeface="IBM Plex Sans" pitchFamily="34" charset="-122"/>
                <a:cs typeface="IBM Plex Sans" pitchFamily="34" charset="-120"/>
              </a:rPr>
              <a:t>INSTITUTION</a:t>
            </a:r>
            <a:endParaRPr lang="en-US" sz="1200" dirty="0"/>
          </a:p>
        </p:txBody>
      </p:sp>
      <p:sp>
        <p:nvSpPr>
          <p:cNvPr id="14" name="Text 11"/>
          <p:cNvSpPr/>
          <p:nvPr/>
        </p:nvSpPr>
        <p:spPr>
          <a:xfrm>
            <a:off x="508000" y="6068087"/>
            <a:ext cx="3924300"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3EA"/>
                </a:solidFill>
                <a:latin typeface="IBM Plex Sans" pitchFamily="34" charset="0"/>
                <a:ea typeface="IBM Plex Sans" pitchFamily="34" charset="-122"/>
                <a:cs typeface="IBM Plex Sans" pitchFamily="34" charset="-120"/>
              </a:rPr>
              <a:t>Murang’a University of Technology</a:t>
            </a:r>
            <a:endParaRPr lang="en-US" sz="1400" dirty="0"/>
          </a:p>
        </p:txBody>
      </p:sp>
      <p:sp>
        <p:nvSpPr>
          <p:cNvPr id="15" name="Text 12"/>
          <p:cNvSpPr/>
          <p:nvPr/>
        </p:nvSpPr>
        <p:spPr>
          <a:xfrm>
            <a:off x="5435600" y="558800"/>
            <a:ext cx="633120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31F"/>
                </a:solidFill>
                <a:latin typeface="Fraunces" pitchFamily="18" charset="0"/>
                <a:ea typeface="Fraunces" pitchFamily="18" charset="-122"/>
                <a:cs typeface="Fraunces" pitchFamily="18" charset="-120"/>
              </a:rPr>
              <a:t>The problem, on the ground</a:t>
            </a:r>
            <a:endParaRPr lang="en-US" sz="2000" dirty="0"/>
          </a:p>
        </p:txBody>
      </p:sp>
      <p:pic>
        <p:nvPicPr>
          <p:cNvPr id="16" name="Image 1" descr="A farmer sits beside crates of tomatoes on a roadside, waiting for a buyer">    </p:cNvPr>
          <p:cNvPicPr>
            <a:picLocks noChangeAspect="1"/>
          </p:cNvPicPr>
          <p:nvPr/>
        </p:nvPicPr>
        <p:blipFill>
          <a:blip r:embed="rId2"/>
          <a:srcRect l="3636" r="3636" t="0" b="0"/>
          <a:stretch/>
        </p:blipFill>
        <p:spPr>
          <a:xfrm>
            <a:off x="5435600" y="990600"/>
            <a:ext cx="1943100" cy="1397000"/>
          </a:xfrm>
          <a:prstGeom prst="roundRect">
            <a:avLst>
              <a:gd name="adj" fmla="val 2727"/>
            </a:avLst>
          </a:prstGeom>
        </p:spPr>
      </p:pic>
      <p:sp>
        <p:nvSpPr>
          <p:cNvPr id="17" name="Text 13"/>
          <p:cNvSpPr/>
          <p:nvPr/>
        </p:nvSpPr>
        <p:spPr>
          <a:xfrm>
            <a:off x="5435600" y="2463800"/>
            <a:ext cx="2005753"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D231F"/>
                </a:solidFill>
                <a:latin typeface="IBM Plex Sans" pitchFamily="34" charset="0"/>
                <a:ea typeface="IBM Plex Sans" pitchFamily="34" charset="-122"/>
                <a:cs typeface="IBM Plex Sans" pitchFamily="34" charset="-120"/>
              </a:rPr>
              <a:t>No buyer at harvest.</a:t>
            </a:r>
            <a:r>
              <a:rPr lang="en-US" sz="1200" dirty="0">
                <a:solidFill>
                  <a:srgbClr val="1D231F"/>
                </a:solidFill>
                <a:latin typeface="IBM Plex Sans" pitchFamily="34" charset="0"/>
                <a:ea typeface="IBM Plex Sans" pitchFamily="34" charset="-122"/>
                <a:cs typeface="IBM Plex Sans" pitchFamily="34" charset="-120"/>
              </a:rPr>
              <a:t> Crates waiting by the road.</a:t>
            </a:r>
            <a:endParaRPr lang="en-US" sz="1200" dirty="0"/>
          </a:p>
        </p:txBody>
      </p:sp>
      <p:pic>
        <p:nvPicPr>
          <p:cNvPr id="18" name="Image 2" descr="A heap of rejected tomatoes and cabbages dumped at a market">    </p:cNvPr>
          <p:cNvPicPr>
            <a:picLocks noChangeAspect="1"/>
          </p:cNvPicPr>
          <p:nvPr/>
        </p:nvPicPr>
        <p:blipFill>
          <a:blip r:embed="rId3"/>
          <a:srcRect l="3636" r="3636" t="0" b="0"/>
          <a:stretch/>
        </p:blipFill>
        <p:spPr>
          <a:xfrm>
            <a:off x="7535334" y="990600"/>
            <a:ext cx="1943100" cy="1397000"/>
          </a:xfrm>
          <a:prstGeom prst="roundRect">
            <a:avLst>
              <a:gd name="adj" fmla="val 2727"/>
            </a:avLst>
          </a:prstGeom>
        </p:spPr>
      </p:pic>
      <p:sp>
        <p:nvSpPr>
          <p:cNvPr id="19" name="Text 14"/>
          <p:cNvSpPr/>
          <p:nvPr/>
        </p:nvSpPr>
        <p:spPr>
          <a:xfrm>
            <a:off x="7535334" y="2463800"/>
            <a:ext cx="2005753" cy="6197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D231F"/>
                </a:solidFill>
                <a:latin typeface="IBM Plex Sans" pitchFamily="34" charset="0"/>
                <a:ea typeface="IBM Plex Sans" pitchFamily="34" charset="-122"/>
                <a:cs typeface="IBM Plex Sans" pitchFamily="34" charset="-120"/>
              </a:rPr>
              <a:t>Lower grades wasted.</a:t>
            </a:r>
            <a:r>
              <a:rPr lang="en-US" sz="1200" dirty="0">
                <a:solidFill>
                  <a:srgbClr val="1D231F"/>
                </a:solidFill>
                <a:latin typeface="IBM Plex Sans" pitchFamily="34" charset="0"/>
                <a:ea typeface="IBM Plex Sans" pitchFamily="34" charset="-122"/>
                <a:cs typeface="IBM Plex Sans" pitchFamily="34" charset="-120"/>
              </a:rPr>
              <a:t> Rejected produce dumped at market.</a:t>
            </a:r>
            <a:endParaRPr lang="en-US" sz="1200" dirty="0"/>
          </a:p>
        </p:txBody>
      </p:sp>
      <p:pic>
        <p:nvPicPr>
          <p:cNvPr id="20" name="Image 3" descr="Several pickups with small loads of produce driving on the same rural road">    </p:cNvPr>
          <p:cNvPicPr>
            <a:picLocks noChangeAspect="1"/>
          </p:cNvPicPr>
          <p:nvPr/>
        </p:nvPicPr>
        <p:blipFill>
          <a:blip r:embed="rId4"/>
          <a:srcRect l="0" r="0" t="3080" b="3080"/>
          <a:stretch/>
        </p:blipFill>
        <p:spPr>
          <a:xfrm>
            <a:off x="9635067" y="990600"/>
            <a:ext cx="1943100" cy="1397000"/>
          </a:xfrm>
          <a:prstGeom prst="roundRect">
            <a:avLst>
              <a:gd name="adj" fmla="val 2727"/>
            </a:avLst>
          </a:prstGeom>
        </p:spPr>
      </p:pic>
      <p:sp>
        <p:nvSpPr>
          <p:cNvPr id="21" name="Text 15"/>
          <p:cNvSpPr/>
          <p:nvPr/>
        </p:nvSpPr>
        <p:spPr>
          <a:xfrm>
            <a:off x="9635067" y="2463800"/>
            <a:ext cx="2005753"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D231F"/>
                </a:solidFill>
                <a:latin typeface="IBM Plex Sans" pitchFamily="34" charset="0"/>
                <a:ea typeface="IBM Plex Sans" pitchFamily="34" charset="-122"/>
                <a:cs typeface="IBM Plex Sans" pitchFamily="34" charset="-120"/>
              </a:rPr>
              <a:t>One trip per farmer.</a:t>
            </a:r>
            <a:r>
              <a:rPr lang="en-US" sz="1200" dirty="0">
                <a:solidFill>
                  <a:srgbClr val="1D231F"/>
                </a:solidFill>
                <a:latin typeface="IBM Plex Sans" pitchFamily="34" charset="0"/>
                <a:ea typeface="IBM Plex Sans" pitchFamily="34" charset="-122"/>
                <a:cs typeface="IBM Plex Sans" pitchFamily="34" charset="-120"/>
              </a:rPr>
              <a:t> Half-empty pickups on one road.</a:t>
            </a:r>
            <a:endParaRPr lang="en-US" sz="1200" dirty="0"/>
          </a:p>
        </p:txBody>
      </p:sp>
      <p:sp>
        <p:nvSpPr>
          <p:cNvPr id="22" name="Text 16"/>
          <p:cNvSpPr/>
          <p:nvPr/>
        </p:nvSpPr>
        <p:spPr>
          <a:xfrm>
            <a:off x="5435600" y="3337520"/>
            <a:ext cx="633120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31F"/>
                </a:solidFill>
                <a:latin typeface="Fraunces" pitchFamily="18" charset="0"/>
                <a:ea typeface="Fraunces" pitchFamily="18" charset="-122"/>
                <a:cs typeface="Fraunces" pitchFamily="18" charset="-120"/>
              </a:rPr>
              <a:t>Team Bora Chakula</a:t>
            </a:r>
            <a:endParaRPr lang="en-US" sz="2000" dirty="0"/>
          </a:p>
        </p:txBody>
      </p:sp>
      <p:sp>
        <p:nvSpPr>
          <p:cNvPr id="23" name="Shape 17"/>
          <p:cNvSpPr/>
          <p:nvPr/>
        </p:nvSpPr>
        <p:spPr>
          <a:xfrm>
            <a:off x="5435600" y="3747095"/>
            <a:ext cx="6146800" cy="0"/>
          </a:xfrm>
          <a:prstGeom prst="line">
            <a:avLst/>
          </a:prstGeom>
          <a:noFill/>
          <a:ln w="6350">
            <a:solidFill>
              <a:srgbClr val="DDD5C3"/>
            </a:solidFill>
            <a:prstDash val="solid"/>
          </a:ln>
        </p:spPr>
      </p:sp>
      <p:sp>
        <p:nvSpPr>
          <p:cNvPr id="24" name="Text 18"/>
          <p:cNvSpPr/>
          <p:nvPr/>
        </p:nvSpPr>
        <p:spPr>
          <a:xfrm>
            <a:off x="5435600" y="3837054"/>
            <a:ext cx="2229247"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31F"/>
                </a:solidFill>
                <a:latin typeface="IBM Plex Sans" pitchFamily="34" charset="0"/>
                <a:ea typeface="IBM Plex Sans" pitchFamily="34" charset="-122"/>
                <a:cs typeface="IBM Plex Sans" pitchFamily="34" charset="-120"/>
              </a:rPr>
              <a:t>John Mwangi Kagunda</a:t>
            </a:r>
            <a:endParaRPr lang="en-US" sz="1400" dirty="0"/>
          </a:p>
        </p:txBody>
      </p:sp>
      <p:sp>
        <p:nvSpPr>
          <p:cNvPr id="25" name="Text 19"/>
          <p:cNvSpPr/>
          <p:nvPr/>
        </p:nvSpPr>
        <p:spPr>
          <a:xfrm>
            <a:off x="8556069" y="3854847"/>
            <a:ext cx="302633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Team leader · Backend and database</a:t>
            </a:r>
            <a:endParaRPr lang="en-US" sz="1200" dirty="0"/>
          </a:p>
        </p:txBody>
      </p:sp>
      <p:sp>
        <p:nvSpPr>
          <p:cNvPr id="26" name="Shape 20"/>
          <p:cNvSpPr/>
          <p:nvPr/>
        </p:nvSpPr>
        <p:spPr>
          <a:xfrm>
            <a:off x="5435600" y="4178036"/>
            <a:ext cx="6146800" cy="0"/>
          </a:xfrm>
          <a:prstGeom prst="line">
            <a:avLst/>
          </a:prstGeom>
          <a:noFill/>
          <a:ln w="6350">
            <a:solidFill>
              <a:srgbClr val="DDD5C3"/>
            </a:solidFill>
            <a:prstDash val="solid"/>
          </a:ln>
        </p:spPr>
      </p:sp>
      <p:sp>
        <p:nvSpPr>
          <p:cNvPr id="27" name="Text 21"/>
          <p:cNvSpPr/>
          <p:nvPr/>
        </p:nvSpPr>
        <p:spPr>
          <a:xfrm>
            <a:off x="5435600" y="4267994"/>
            <a:ext cx="204247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31F"/>
                </a:solidFill>
                <a:latin typeface="IBM Plex Sans" pitchFamily="34" charset="0"/>
                <a:ea typeface="IBM Plex Sans" pitchFamily="34" charset="-122"/>
                <a:cs typeface="IBM Plex Sans" pitchFamily="34" charset="-120"/>
              </a:rPr>
              <a:t>Faiza Ibrahim Suraw</a:t>
            </a:r>
            <a:endParaRPr lang="en-US" sz="1400" dirty="0"/>
          </a:p>
        </p:txBody>
      </p:sp>
      <p:sp>
        <p:nvSpPr>
          <p:cNvPr id="28" name="Text 22"/>
          <p:cNvSpPr/>
          <p:nvPr/>
        </p:nvSpPr>
        <p:spPr>
          <a:xfrm>
            <a:off x="8989695" y="4285787"/>
            <a:ext cx="25927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Product manager · Pitch builder</a:t>
            </a:r>
            <a:endParaRPr lang="en-US" sz="1200" dirty="0"/>
          </a:p>
        </p:txBody>
      </p:sp>
      <p:sp>
        <p:nvSpPr>
          <p:cNvPr id="29" name="Shape 23"/>
          <p:cNvSpPr/>
          <p:nvPr/>
        </p:nvSpPr>
        <p:spPr>
          <a:xfrm>
            <a:off x="5435600" y="4608976"/>
            <a:ext cx="6146800" cy="0"/>
          </a:xfrm>
          <a:prstGeom prst="line">
            <a:avLst/>
          </a:prstGeom>
          <a:noFill/>
          <a:ln w="6350">
            <a:solidFill>
              <a:srgbClr val="DDD5C3"/>
            </a:solidFill>
            <a:prstDash val="solid"/>
          </a:ln>
        </p:spPr>
      </p:sp>
      <p:sp>
        <p:nvSpPr>
          <p:cNvPr id="30" name="Text 24"/>
          <p:cNvSpPr/>
          <p:nvPr/>
        </p:nvSpPr>
        <p:spPr>
          <a:xfrm>
            <a:off x="5435600" y="4698934"/>
            <a:ext cx="209224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31F"/>
                </a:solidFill>
                <a:latin typeface="IBM Plex Sans" pitchFamily="34" charset="0"/>
                <a:ea typeface="IBM Plex Sans" pitchFamily="34" charset="-122"/>
                <a:cs typeface="IBM Plex Sans" pitchFamily="34" charset="-120"/>
              </a:rPr>
              <a:t>John Maina Ndirangu</a:t>
            </a:r>
            <a:endParaRPr lang="en-US" sz="1400" dirty="0"/>
          </a:p>
        </p:txBody>
      </p:sp>
      <p:sp>
        <p:nvSpPr>
          <p:cNvPr id="31" name="Text 25"/>
          <p:cNvSpPr/>
          <p:nvPr/>
        </p:nvSpPr>
        <p:spPr>
          <a:xfrm>
            <a:off x="9717009" y="4716727"/>
            <a:ext cx="1865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Backend and database</a:t>
            </a:r>
            <a:endParaRPr lang="en-US" sz="1200" dirty="0"/>
          </a:p>
        </p:txBody>
      </p:sp>
      <p:sp>
        <p:nvSpPr>
          <p:cNvPr id="32" name="Shape 26"/>
          <p:cNvSpPr/>
          <p:nvPr/>
        </p:nvSpPr>
        <p:spPr>
          <a:xfrm>
            <a:off x="5435600" y="5039916"/>
            <a:ext cx="6146800" cy="0"/>
          </a:xfrm>
          <a:prstGeom prst="line">
            <a:avLst/>
          </a:prstGeom>
          <a:noFill/>
          <a:ln w="6350">
            <a:solidFill>
              <a:srgbClr val="DDD5C3"/>
            </a:solidFill>
            <a:prstDash val="solid"/>
          </a:ln>
        </p:spPr>
      </p:sp>
      <p:sp>
        <p:nvSpPr>
          <p:cNvPr id="33" name="Text 27"/>
          <p:cNvSpPr/>
          <p:nvPr/>
        </p:nvSpPr>
        <p:spPr>
          <a:xfrm>
            <a:off x="5435600" y="5129874"/>
            <a:ext cx="197350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31F"/>
                </a:solidFill>
                <a:latin typeface="IBM Plex Sans" pitchFamily="34" charset="0"/>
                <a:ea typeface="IBM Plex Sans" pitchFamily="34" charset="-122"/>
                <a:cs typeface="IBM Plex Sans" pitchFamily="34" charset="-120"/>
              </a:rPr>
              <a:t>David Calvin Chuma</a:t>
            </a:r>
            <a:endParaRPr lang="en-US" sz="1400" dirty="0"/>
          </a:p>
        </p:txBody>
      </p:sp>
      <p:sp>
        <p:nvSpPr>
          <p:cNvPr id="34" name="Text 28"/>
          <p:cNvSpPr/>
          <p:nvPr/>
        </p:nvSpPr>
        <p:spPr>
          <a:xfrm>
            <a:off x="10765631" y="5147667"/>
            <a:ext cx="81676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Front-end</a:t>
            </a:r>
            <a:endParaRPr lang="en-US" sz="1200" dirty="0"/>
          </a:p>
        </p:txBody>
      </p:sp>
      <p:sp>
        <p:nvSpPr>
          <p:cNvPr id="35" name="Shape 29"/>
          <p:cNvSpPr/>
          <p:nvPr/>
        </p:nvSpPr>
        <p:spPr>
          <a:xfrm>
            <a:off x="5435600" y="5470856"/>
            <a:ext cx="6146800" cy="0"/>
          </a:xfrm>
          <a:prstGeom prst="line">
            <a:avLst/>
          </a:prstGeom>
          <a:noFill/>
          <a:ln w="6350">
            <a:solidFill>
              <a:srgbClr val="DDD5C3"/>
            </a:solidFill>
            <a:prstDash val="solid"/>
          </a:ln>
        </p:spPr>
      </p:sp>
      <p:sp>
        <p:nvSpPr>
          <p:cNvPr id="36" name="Shape 30"/>
          <p:cNvSpPr/>
          <p:nvPr/>
        </p:nvSpPr>
        <p:spPr>
          <a:xfrm>
            <a:off x="5435600" y="5899679"/>
            <a:ext cx="6146800" cy="0"/>
          </a:xfrm>
          <a:prstGeom prst="line">
            <a:avLst/>
          </a:prstGeom>
          <a:noFill/>
          <a:ln w="6350">
            <a:solidFill>
              <a:srgbClr val="DDD5C3"/>
            </a:solidFill>
            <a:prstDash val="solid"/>
          </a:ln>
        </p:spPr>
      </p:sp>
      <p:sp>
        <p:nvSpPr>
          <p:cNvPr id="37" name="Text 31"/>
          <p:cNvSpPr/>
          <p:nvPr/>
        </p:nvSpPr>
        <p:spPr>
          <a:xfrm>
            <a:off x="5435600" y="5560814"/>
            <a:ext cx="189841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31F"/>
                </a:solidFill>
                <a:latin typeface="IBM Plex Sans" pitchFamily="34" charset="0"/>
                <a:ea typeface="IBM Plex Sans" pitchFamily="34" charset="-122"/>
                <a:cs typeface="IBM Plex Sans" pitchFamily="34" charset="-120"/>
              </a:rPr>
              <a:t>SherylAnn Nyawira</a:t>
            </a:r>
            <a:endParaRPr lang="en-US" sz="1400" dirty="0"/>
          </a:p>
        </p:txBody>
      </p:sp>
      <p:sp>
        <p:nvSpPr>
          <p:cNvPr id="38" name="Text 32"/>
          <p:cNvSpPr/>
          <p:nvPr/>
        </p:nvSpPr>
        <p:spPr>
          <a:xfrm>
            <a:off x="9852660" y="5578608"/>
            <a:ext cx="172974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Design and front-end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D34"/>
                </a:solidFill>
                <a:latin typeface="IBM Plex Sans" pitchFamily="34" charset="0"/>
                <a:ea typeface="IBM Plex Sans" pitchFamily="34" charset="-122"/>
                <a:cs typeface="IBM Plex Sans" pitchFamily="34" charset="-120"/>
              </a:rPr>
              <a:t>PROBLEM STATEMENT</a:t>
            </a:r>
            <a:endParaRPr lang="en-US" sz="1200" dirty="0"/>
          </a:p>
        </p:txBody>
      </p:sp>
      <p:sp>
        <p:nvSpPr>
          <p:cNvPr id="3" name="Text 1"/>
          <p:cNvSpPr/>
          <p:nvPr>
            <p:ph type="title"/>
          </p:nvPr>
        </p:nvSpPr>
        <p:spPr>
          <a:xfrm>
            <a:off x="812800" y="110232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D231F"/>
                </a:solidFill>
                <a:latin typeface="Fraunces" pitchFamily="18" charset="0"/>
                <a:ea typeface="Fraunces" pitchFamily="18" charset="-122"/>
                <a:cs typeface="Fraunces" pitchFamily="18" charset="-120"/>
              </a:rPr>
              <a:t>Kenyan smallholders grow first and look for a buyer at harvest.</a:t>
            </a:r>
            <a:endParaRPr lang="en-US" sz="3200" dirty="0"/>
          </a:p>
        </p:txBody>
      </p:sp>
      <p:sp>
        <p:nvSpPr>
          <p:cNvPr id="4" name="Shape 2"/>
          <p:cNvSpPr/>
          <p:nvPr/>
        </p:nvSpPr>
        <p:spPr>
          <a:xfrm>
            <a:off x="812800" y="2341761"/>
            <a:ext cx="3810000" cy="3500239"/>
          </a:xfrm>
          <a:prstGeom prst="roundRect">
            <a:avLst>
              <a:gd name="adj" fmla="val 1088"/>
            </a:avLst>
          </a:prstGeom>
          <a:solidFill>
            <a:srgbClr val="11301F"/>
          </a:solidFill>
          <a:ln/>
        </p:spPr>
      </p:sp>
      <p:sp>
        <p:nvSpPr>
          <p:cNvPr id="5" name="Text 3"/>
          <p:cNvSpPr/>
          <p:nvPr/>
        </p:nvSpPr>
        <p:spPr>
          <a:xfrm>
            <a:off x="1117600" y="2646561"/>
            <a:ext cx="32964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CFA6"/>
                </a:solidFill>
                <a:latin typeface="IBM Plex Sans" pitchFamily="34" charset="0"/>
                <a:ea typeface="IBM Plex Sans" pitchFamily="34" charset="-122"/>
                <a:cs typeface="IBM Plex Sans" pitchFamily="34" charset="-120"/>
              </a:rPr>
              <a:t>WHY IT MATTERS</a:t>
            </a:r>
            <a:endParaRPr lang="en-US" sz="1200" dirty="0"/>
          </a:p>
        </p:txBody>
      </p:sp>
      <p:sp>
        <p:nvSpPr>
          <p:cNvPr id="6" name="Text 4"/>
          <p:cNvSpPr/>
          <p:nvPr/>
        </p:nvSpPr>
        <p:spPr>
          <a:xfrm>
            <a:off x="1117600" y="3105481"/>
            <a:ext cx="329641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7F3EA"/>
                </a:solidFill>
                <a:latin typeface="Fraunces" pitchFamily="18" charset="0"/>
                <a:ea typeface="Fraunces" pitchFamily="18" charset="-122"/>
                <a:cs typeface="Fraunces" pitchFamily="18" charset="-120"/>
              </a:rPr>
              <a:t>28%</a:t>
            </a:r>
            <a:endParaRPr lang="en-US" sz="8000" dirty="0"/>
          </a:p>
        </p:txBody>
      </p:sp>
      <p:sp>
        <p:nvSpPr>
          <p:cNvPr id="7" name="Text 5"/>
          <p:cNvSpPr/>
          <p:nvPr/>
        </p:nvSpPr>
        <p:spPr>
          <a:xfrm>
            <a:off x="1117600" y="4367147"/>
            <a:ext cx="329641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FEADF"/>
                </a:solidFill>
                <a:latin typeface="IBM Plex Sans" pitchFamily="34" charset="0"/>
                <a:ea typeface="IBM Plex Sans" pitchFamily="34" charset="-122"/>
                <a:cs typeface="IBM Plex Sans" pitchFamily="34" charset="-120"/>
              </a:rPr>
              <a:t>of tomato value is lost between the farm and the point of sale.</a:t>
            </a:r>
            <a:endParaRPr lang="en-US" sz="1400" dirty="0"/>
          </a:p>
        </p:txBody>
      </p:sp>
      <p:sp>
        <p:nvSpPr>
          <p:cNvPr id="8" name="Text 6"/>
          <p:cNvSpPr/>
          <p:nvPr/>
        </p:nvSpPr>
        <p:spPr>
          <a:xfrm>
            <a:off x="1117600" y="5110559"/>
            <a:ext cx="32964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CFA6"/>
                </a:solidFill>
                <a:latin typeface="IBM Plex Sans" pitchFamily="34" charset="0"/>
                <a:ea typeface="IBM Plex Sans" pitchFamily="34" charset="-122"/>
                <a:cs typeface="IBM Plex Sans" pitchFamily="34" charset="-120"/>
              </a:rPr>
              <a:t>Source: IFPRI 2022, post-harvest loss study, Laikipia County.</a:t>
            </a:r>
            <a:endParaRPr lang="en-US" sz="1200" dirty="0"/>
          </a:p>
        </p:txBody>
      </p:sp>
      <p:sp>
        <p:nvSpPr>
          <p:cNvPr id="9" name="Shape 7"/>
          <p:cNvSpPr/>
          <p:nvPr/>
        </p:nvSpPr>
        <p:spPr>
          <a:xfrm>
            <a:off x="5029200" y="2344936"/>
            <a:ext cx="6350000" cy="0"/>
          </a:xfrm>
          <a:prstGeom prst="line">
            <a:avLst/>
          </a:prstGeom>
          <a:noFill/>
          <a:ln w="6350">
            <a:solidFill>
              <a:srgbClr val="DDD5C3"/>
            </a:solidFill>
            <a:prstDash val="solid"/>
          </a:ln>
        </p:spPr>
      </p:sp>
      <p:sp>
        <p:nvSpPr>
          <p:cNvPr id="10" name="Text 8"/>
          <p:cNvSpPr/>
          <p:nvPr/>
        </p:nvSpPr>
        <p:spPr>
          <a:xfrm>
            <a:off x="5029200" y="2498395"/>
            <a:ext cx="65405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31F"/>
                </a:solidFill>
                <a:latin typeface="IBM Plex Sans" pitchFamily="34" charset="0"/>
                <a:ea typeface="IBM Plex Sans" pitchFamily="34" charset="-122"/>
                <a:cs typeface="IBM Plex Sans" pitchFamily="34" charset="-120"/>
              </a:rPr>
              <a:t>The challenge</a:t>
            </a:r>
            <a:endParaRPr lang="en-US" sz="1600" dirty="0"/>
          </a:p>
        </p:txBody>
      </p:sp>
      <p:sp>
        <p:nvSpPr>
          <p:cNvPr id="11" name="Text 9"/>
          <p:cNvSpPr/>
          <p:nvPr/>
        </p:nvSpPr>
        <p:spPr>
          <a:xfrm>
            <a:off x="5029200" y="2818408"/>
            <a:ext cx="654050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5C55"/>
                </a:solidFill>
                <a:latin typeface="IBM Plex Sans" pitchFamily="34" charset="0"/>
                <a:ea typeface="IBM Plex Sans" pitchFamily="34" charset="-122"/>
                <a:cs typeface="IBM Plex Sans" pitchFamily="34" charset="-120"/>
              </a:rPr>
              <a:t>Without a buyer lined up, farmers take the farm-gate broker’s price, lower grades go unsold, and each farmer pays for a separate trip.</a:t>
            </a:r>
            <a:endParaRPr lang="en-US" sz="1400" dirty="0"/>
          </a:p>
        </p:txBody>
      </p:sp>
      <p:sp>
        <p:nvSpPr>
          <p:cNvPr id="12" name="Shape 10"/>
          <p:cNvSpPr/>
          <p:nvPr/>
        </p:nvSpPr>
        <p:spPr>
          <a:xfrm>
            <a:off x="5029200" y="3607859"/>
            <a:ext cx="6350000" cy="0"/>
          </a:xfrm>
          <a:prstGeom prst="line">
            <a:avLst/>
          </a:prstGeom>
          <a:noFill/>
          <a:ln w="6350">
            <a:solidFill>
              <a:srgbClr val="DDD5C3"/>
            </a:solidFill>
            <a:prstDash val="solid"/>
          </a:ln>
        </p:spPr>
      </p:sp>
      <p:sp>
        <p:nvSpPr>
          <p:cNvPr id="13" name="Text 11"/>
          <p:cNvSpPr/>
          <p:nvPr/>
        </p:nvSpPr>
        <p:spPr>
          <a:xfrm>
            <a:off x="5029200" y="3761317"/>
            <a:ext cx="65405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31F"/>
                </a:solidFill>
                <a:latin typeface="IBM Plex Sans" pitchFamily="34" charset="0"/>
                <a:ea typeface="IBM Plex Sans" pitchFamily="34" charset="-122"/>
                <a:cs typeface="IBM Plex Sans" pitchFamily="34" charset="-120"/>
              </a:rPr>
              <a:t>Who is affected</a:t>
            </a:r>
            <a:endParaRPr lang="en-US" sz="1600" dirty="0"/>
          </a:p>
        </p:txBody>
      </p:sp>
      <p:sp>
        <p:nvSpPr>
          <p:cNvPr id="14" name="Text 12"/>
          <p:cNvSpPr/>
          <p:nvPr/>
        </p:nvSpPr>
        <p:spPr>
          <a:xfrm>
            <a:off x="5029200" y="4081331"/>
            <a:ext cx="654050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5C55"/>
                </a:solidFill>
                <a:latin typeface="IBM Plex Sans" pitchFamily="34" charset="0"/>
                <a:ea typeface="IBM Plex Sans" pitchFamily="34" charset="-122"/>
                <a:cs typeface="IBM Plex Sans" pitchFamily="34" charset="-120"/>
              </a:rPr>
              <a:t>Smallholder farmers lose income. Grocers, schools and processors cannot get steady volume from any single small farm.</a:t>
            </a:r>
            <a:endParaRPr lang="en-US" sz="1400" dirty="0"/>
          </a:p>
        </p:txBody>
      </p:sp>
      <p:sp>
        <p:nvSpPr>
          <p:cNvPr id="15" name="Shape 13"/>
          <p:cNvSpPr/>
          <p:nvPr/>
        </p:nvSpPr>
        <p:spPr>
          <a:xfrm>
            <a:off x="5029200" y="4870715"/>
            <a:ext cx="6350000" cy="0"/>
          </a:xfrm>
          <a:prstGeom prst="line">
            <a:avLst/>
          </a:prstGeom>
          <a:noFill/>
          <a:ln w="6350">
            <a:solidFill>
              <a:srgbClr val="DDD5C3"/>
            </a:solidFill>
            <a:prstDash val="solid"/>
          </a:ln>
        </p:spPr>
      </p:sp>
      <p:sp>
        <p:nvSpPr>
          <p:cNvPr id="16" name="Text 14"/>
          <p:cNvSpPr/>
          <p:nvPr/>
        </p:nvSpPr>
        <p:spPr>
          <a:xfrm>
            <a:off x="5029200" y="5024173"/>
            <a:ext cx="65405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31F"/>
                </a:solidFill>
                <a:latin typeface="IBM Plex Sans" pitchFamily="34" charset="0"/>
                <a:ea typeface="IBM Plex Sans" pitchFamily="34" charset="-122"/>
                <a:cs typeface="IBM Plex Sans" pitchFamily="34" charset="-120"/>
              </a:rPr>
              <a:t>Who can act</a:t>
            </a:r>
            <a:endParaRPr lang="en-US" sz="1600" dirty="0"/>
          </a:p>
        </p:txBody>
      </p:sp>
      <p:sp>
        <p:nvSpPr>
          <p:cNvPr id="17" name="Text 15"/>
          <p:cNvSpPr/>
          <p:nvPr/>
        </p:nvSpPr>
        <p:spPr>
          <a:xfrm>
            <a:off x="5029200" y="5344187"/>
            <a:ext cx="654050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5C55"/>
                </a:solidFill>
                <a:latin typeface="IBM Plex Sans" pitchFamily="34" charset="0"/>
                <a:ea typeface="IBM Plex Sans" pitchFamily="34" charset="-122"/>
                <a:cs typeface="IBM Plex Sans" pitchFamily="34" charset="-120"/>
              </a:rPr>
              <a:t>Buyers willing to commit before harvest, cooperatives and field agents who group farmers, and county agriculture offices.</a:t>
            </a:r>
            <a:endParaRPr lang="en-US" sz="14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HarvestLink · Team Bora Chakula</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2 / 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301F"/>
        </a:solidFill>
      </p:bgPr>
    </p:bg>
    <p:spTree>
      <p:nvGrpSpPr>
        <p:cNvPr id="1" name=""/>
        <p:cNvGrpSpPr/>
        <p:nvPr/>
      </p:nvGrpSpPr>
      <p:grpSpPr>
        <a:xfrm>
          <a:off x="0" y="0"/>
          <a:ext cx="0" cy="0"/>
          <a:chOff x="0" y="0"/>
          <a:chExt cx="0" cy="0"/>
        </a:xfrm>
      </p:grpSpPr>
      <p:sp>
        <p:nvSpPr>
          <p:cNvPr id="2" name="Text 0"/>
          <p:cNvSpPr/>
          <p:nvPr/>
        </p:nvSpPr>
        <p:spPr>
          <a:xfrm>
            <a:off x="812800" y="792559"/>
            <a:ext cx="66362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DCFA6"/>
                </a:solidFill>
                <a:latin typeface="IBM Plex Sans" pitchFamily="34" charset="0"/>
                <a:ea typeface="IBM Plex Sans" pitchFamily="34" charset="-122"/>
                <a:cs typeface="IBM Plex Sans" pitchFamily="34" charset="-120"/>
              </a:rPr>
              <a:t>SOLUTION AND APPROACH</a:t>
            </a:r>
            <a:endParaRPr lang="en-US" sz="1200" dirty="0"/>
          </a:p>
        </p:txBody>
      </p:sp>
      <p:sp>
        <p:nvSpPr>
          <p:cNvPr id="3" name="Text 1"/>
          <p:cNvSpPr/>
          <p:nvPr>
            <p:ph type="title"/>
          </p:nvPr>
        </p:nvSpPr>
        <p:spPr>
          <a:xfrm>
            <a:off x="812800" y="1082080"/>
            <a:ext cx="773160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7F3EA"/>
                </a:solidFill>
                <a:latin typeface="Fraunces" pitchFamily="18" charset="0"/>
                <a:ea typeface="Fraunces" pitchFamily="18" charset="-122"/>
                <a:cs typeface="Fraunces" pitchFamily="18" charset="-120"/>
              </a:rPr>
              <a:t>How one order moves through Oracle</a:t>
            </a:r>
            <a:endParaRPr lang="en-US" sz="2800" dirty="0"/>
          </a:p>
        </p:txBody>
      </p:sp>
      <p:sp>
        <p:nvSpPr>
          <p:cNvPr id="4" name="Text 2"/>
          <p:cNvSpPr/>
          <p:nvPr/>
        </p:nvSpPr>
        <p:spPr>
          <a:xfrm>
            <a:off x="9385300" y="894094"/>
            <a:ext cx="1130300" cy="421614"/>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DFEADF"/>
                </a:solidFill>
                <a:latin typeface="IBM Plex Sans" pitchFamily="34" charset="0"/>
                <a:ea typeface="IBM Plex Sans" pitchFamily="34" charset="-122"/>
                <a:cs typeface="IBM Plex Sans" pitchFamily="34" charset="-120"/>
              </a:rPr>
              <a:t>Scan for the live app</a:t>
            </a:r>
            <a:endParaRPr lang="en-US" sz="1200" dirty="0"/>
          </a:p>
        </p:txBody>
      </p:sp>
      <p:pic>
        <p:nvPicPr>
          <p:cNvPr id="5" name="Image 0" descr="QR code linking to the live HarvestLink app on Oracle Cloud">    </p:cNvPr>
          <p:cNvPicPr>
            <a:picLocks noChangeAspect="1"/>
          </p:cNvPicPr>
          <p:nvPr/>
        </p:nvPicPr>
        <p:blipFill>
          <a:blip r:embed="rId1"/>
          <a:srcRect l="0" r="0" t="0" b="0"/>
          <a:stretch/>
        </p:blipFill>
        <p:spPr>
          <a:xfrm>
            <a:off x="10617200" y="711200"/>
            <a:ext cx="762000" cy="762000"/>
          </a:xfrm>
          <a:prstGeom prst="roundRect">
            <a:avLst>
              <a:gd name="adj" fmla="val 3333"/>
            </a:avLst>
          </a:prstGeom>
        </p:spPr>
      </p:pic>
      <p:sp>
        <p:nvSpPr>
          <p:cNvPr id="6" name="Shape 3"/>
          <p:cNvSpPr/>
          <p:nvPr/>
        </p:nvSpPr>
        <p:spPr>
          <a:xfrm>
            <a:off x="927100" y="1651000"/>
            <a:ext cx="1879600" cy="591741"/>
          </a:xfrm>
          <a:prstGeom prst="roundRect">
            <a:avLst>
              <a:gd name="adj" fmla="val 6439"/>
            </a:avLst>
          </a:prstGeom>
          <a:solidFill>
            <a:srgbClr val="F7F3EA"/>
          </a:solidFill>
          <a:ln/>
        </p:spPr>
      </p:sp>
      <p:sp>
        <p:nvSpPr>
          <p:cNvPr id="7" name="Text 4"/>
          <p:cNvSpPr/>
          <p:nvPr/>
        </p:nvSpPr>
        <p:spPr>
          <a:xfrm>
            <a:off x="1028700" y="17272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231F"/>
                </a:solidFill>
                <a:latin typeface="IBM Plex Sans" pitchFamily="34" charset="0"/>
                <a:ea typeface="IBM Plex Sans" pitchFamily="34" charset="-122"/>
                <a:cs typeface="IBM Plex Sans" pitchFamily="34" charset="-120"/>
              </a:rPr>
              <a:t>Browser</a:t>
            </a:r>
            <a:endParaRPr lang="en-US" sz="1200" dirty="0"/>
          </a:p>
        </p:txBody>
      </p:sp>
      <p:sp>
        <p:nvSpPr>
          <p:cNvPr id="8" name="Text 5"/>
          <p:cNvSpPr/>
          <p:nvPr/>
        </p:nvSpPr>
        <p:spPr>
          <a:xfrm>
            <a:off x="1028700" y="1953220"/>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Buyer, farmer, agent</a:t>
            </a:r>
            <a:endParaRPr lang="en-US" sz="1200" dirty="0"/>
          </a:p>
        </p:txBody>
      </p:sp>
      <p:sp>
        <p:nvSpPr>
          <p:cNvPr id="9" name="Shape 6"/>
          <p:cNvSpPr/>
          <p:nvPr/>
        </p:nvSpPr>
        <p:spPr>
          <a:xfrm>
            <a:off x="1866900" y="2242741"/>
            <a:ext cx="0" cy="3599259"/>
          </a:xfrm>
          <a:prstGeom prst="line">
            <a:avLst/>
          </a:prstGeom>
          <a:noFill/>
          <a:ln w="12700">
            <a:solidFill>
              <a:srgbClr val="4D7A60"/>
            </a:solidFill>
            <a:prstDash val="dash"/>
          </a:ln>
        </p:spPr>
      </p:sp>
      <p:sp>
        <p:nvSpPr>
          <p:cNvPr id="10" name="Shape 7"/>
          <p:cNvSpPr/>
          <p:nvPr/>
        </p:nvSpPr>
        <p:spPr>
          <a:xfrm>
            <a:off x="2924175" y="1654175"/>
            <a:ext cx="8451850" cy="4184650"/>
          </a:xfrm>
          <a:prstGeom prst="roundRect">
            <a:avLst>
              <a:gd name="adj" fmla="val 835"/>
            </a:avLst>
          </a:prstGeom>
          <a:solidFill>
            <a:srgbClr val="18402B"/>
          </a:solidFill>
          <a:ln w="6350">
            <a:solidFill>
              <a:srgbClr val="2E5A42"/>
            </a:solidFill>
            <a:prstDash val="solid"/>
          </a:ln>
        </p:spPr>
      </p:sp>
      <p:sp>
        <p:nvSpPr>
          <p:cNvPr id="11" name="Shape 8"/>
          <p:cNvSpPr/>
          <p:nvPr/>
        </p:nvSpPr>
        <p:spPr>
          <a:xfrm>
            <a:off x="3042708" y="1655234"/>
            <a:ext cx="1879600" cy="591741"/>
          </a:xfrm>
          <a:prstGeom prst="roundRect">
            <a:avLst>
              <a:gd name="adj" fmla="val 6439"/>
            </a:avLst>
          </a:prstGeom>
          <a:solidFill>
            <a:srgbClr val="F7F3EA"/>
          </a:solidFill>
          <a:ln/>
        </p:spPr>
      </p:sp>
      <p:sp>
        <p:nvSpPr>
          <p:cNvPr id="12" name="Text 9"/>
          <p:cNvSpPr/>
          <p:nvPr/>
        </p:nvSpPr>
        <p:spPr>
          <a:xfrm>
            <a:off x="3144308" y="1731434"/>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231F"/>
                </a:solidFill>
                <a:latin typeface="IBM Plex Sans" pitchFamily="34" charset="0"/>
                <a:ea typeface="IBM Plex Sans" pitchFamily="34" charset="-122"/>
                <a:cs typeface="IBM Plex Sans" pitchFamily="34" charset="-120"/>
              </a:rPr>
              <a:t>APEX + ORDS</a:t>
            </a:r>
            <a:endParaRPr lang="en-US" sz="1200" dirty="0"/>
          </a:p>
        </p:txBody>
      </p:sp>
      <p:sp>
        <p:nvSpPr>
          <p:cNvPr id="13" name="Text 10"/>
          <p:cNvSpPr/>
          <p:nvPr/>
        </p:nvSpPr>
        <p:spPr>
          <a:xfrm>
            <a:off x="3144308" y="1957454"/>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Pages and forms</a:t>
            </a:r>
            <a:endParaRPr lang="en-US" sz="1200" dirty="0"/>
          </a:p>
        </p:txBody>
      </p:sp>
      <p:sp>
        <p:nvSpPr>
          <p:cNvPr id="14" name="Shape 11"/>
          <p:cNvSpPr/>
          <p:nvPr/>
        </p:nvSpPr>
        <p:spPr>
          <a:xfrm>
            <a:off x="3982508" y="2246974"/>
            <a:ext cx="0" cy="3250473"/>
          </a:xfrm>
          <a:prstGeom prst="line">
            <a:avLst/>
          </a:prstGeom>
          <a:noFill/>
          <a:ln w="12700">
            <a:solidFill>
              <a:srgbClr val="4D7A60"/>
            </a:solidFill>
            <a:prstDash val="dash"/>
          </a:ln>
        </p:spPr>
      </p:sp>
      <p:sp>
        <p:nvSpPr>
          <p:cNvPr id="15" name="Shape 12"/>
          <p:cNvSpPr/>
          <p:nvPr/>
        </p:nvSpPr>
        <p:spPr>
          <a:xfrm>
            <a:off x="5157258" y="1655234"/>
            <a:ext cx="1879600" cy="591741"/>
          </a:xfrm>
          <a:prstGeom prst="roundRect">
            <a:avLst>
              <a:gd name="adj" fmla="val 6439"/>
            </a:avLst>
          </a:prstGeom>
          <a:solidFill>
            <a:srgbClr val="F7F3EA"/>
          </a:solidFill>
          <a:ln/>
        </p:spPr>
      </p:sp>
      <p:sp>
        <p:nvSpPr>
          <p:cNvPr id="16" name="Text 13"/>
          <p:cNvSpPr/>
          <p:nvPr/>
        </p:nvSpPr>
        <p:spPr>
          <a:xfrm>
            <a:off x="5258858" y="1731434"/>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231F"/>
                </a:solidFill>
                <a:latin typeface="IBM Plex Sans" pitchFamily="34" charset="0"/>
                <a:ea typeface="IBM Plex Sans" pitchFamily="34" charset="-122"/>
                <a:cs typeface="IBM Plex Sans" pitchFamily="34" charset="-120"/>
              </a:rPr>
              <a:t>PL/SQL engine</a:t>
            </a:r>
            <a:endParaRPr lang="en-US" sz="1200" dirty="0"/>
          </a:p>
        </p:txBody>
      </p:sp>
      <p:sp>
        <p:nvSpPr>
          <p:cNvPr id="17" name="Text 14"/>
          <p:cNvSpPr/>
          <p:nvPr/>
        </p:nvSpPr>
        <p:spPr>
          <a:xfrm>
            <a:off x="5258858" y="1957454"/>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Matching, Select AI</a:t>
            </a:r>
            <a:endParaRPr lang="en-US" sz="1200" dirty="0"/>
          </a:p>
        </p:txBody>
      </p:sp>
      <p:sp>
        <p:nvSpPr>
          <p:cNvPr id="18" name="Shape 15"/>
          <p:cNvSpPr/>
          <p:nvPr/>
        </p:nvSpPr>
        <p:spPr>
          <a:xfrm>
            <a:off x="6097058" y="2246974"/>
            <a:ext cx="0" cy="3250473"/>
          </a:xfrm>
          <a:prstGeom prst="line">
            <a:avLst/>
          </a:prstGeom>
          <a:noFill/>
          <a:ln w="12700">
            <a:solidFill>
              <a:srgbClr val="4D7A60"/>
            </a:solidFill>
            <a:prstDash val="dash"/>
          </a:ln>
        </p:spPr>
      </p:sp>
      <p:sp>
        <p:nvSpPr>
          <p:cNvPr id="19" name="Shape 16"/>
          <p:cNvSpPr/>
          <p:nvPr/>
        </p:nvSpPr>
        <p:spPr>
          <a:xfrm>
            <a:off x="7271809" y="1655234"/>
            <a:ext cx="1879600" cy="591741"/>
          </a:xfrm>
          <a:prstGeom prst="roundRect">
            <a:avLst>
              <a:gd name="adj" fmla="val 6439"/>
            </a:avLst>
          </a:prstGeom>
          <a:solidFill>
            <a:srgbClr val="F7F3EA"/>
          </a:solidFill>
          <a:ln/>
        </p:spPr>
      </p:sp>
      <p:sp>
        <p:nvSpPr>
          <p:cNvPr id="20" name="Text 17"/>
          <p:cNvSpPr/>
          <p:nvPr/>
        </p:nvSpPr>
        <p:spPr>
          <a:xfrm>
            <a:off x="7373409" y="1731434"/>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231F"/>
                </a:solidFill>
                <a:latin typeface="IBM Plex Sans" pitchFamily="34" charset="0"/>
                <a:ea typeface="IBM Plex Sans" pitchFamily="34" charset="-122"/>
                <a:cs typeface="IBM Plex Sans" pitchFamily="34" charset="-120"/>
              </a:rPr>
              <a:t>Tables and views</a:t>
            </a:r>
            <a:endParaRPr lang="en-US" sz="1200" dirty="0"/>
          </a:p>
        </p:txBody>
      </p:sp>
      <p:sp>
        <p:nvSpPr>
          <p:cNvPr id="21" name="Text 18"/>
          <p:cNvSpPr/>
          <p:nvPr/>
        </p:nvSpPr>
        <p:spPr>
          <a:xfrm>
            <a:off x="7373409" y="1957454"/>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Demands, matches</a:t>
            </a:r>
            <a:endParaRPr lang="en-US" sz="1200" dirty="0"/>
          </a:p>
        </p:txBody>
      </p:sp>
      <p:sp>
        <p:nvSpPr>
          <p:cNvPr id="22" name="Shape 19"/>
          <p:cNvSpPr/>
          <p:nvPr/>
        </p:nvSpPr>
        <p:spPr>
          <a:xfrm>
            <a:off x="8211609" y="2246974"/>
            <a:ext cx="0" cy="3250473"/>
          </a:xfrm>
          <a:prstGeom prst="line">
            <a:avLst/>
          </a:prstGeom>
          <a:noFill/>
          <a:ln w="12700">
            <a:solidFill>
              <a:srgbClr val="4D7A60"/>
            </a:solidFill>
            <a:prstDash val="dash"/>
          </a:ln>
        </p:spPr>
      </p:sp>
      <p:sp>
        <p:nvSpPr>
          <p:cNvPr id="23" name="Shape 20"/>
          <p:cNvSpPr/>
          <p:nvPr/>
        </p:nvSpPr>
        <p:spPr>
          <a:xfrm>
            <a:off x="9386359" y="1655234"/>
            <a:ext cx="1879600" cy="591741"/>
          </a:xfrm>
          <a:prstGeom prst="roundRect">
            <a:avLst>
              <a:gd name="adj" fmla="val 6439"/>
            </a:avLst>
          </a:prstGeom>
          <a:solidFill>
            <a:srgbClr val="F7F3EA"/>
          </a:solidFill>
          <a:ln/>
        </p:spPr>
      </p:sp>
      <p:sp>
        <p:nvSpPr>
          <p:cNvPr id="24" name="Text 21"/>
          <p:cNvSpPr/>
          <p:nvPr/>
        </p:nvSpPr>
        <p:spPr>
          <a:xfrm>
            <a:off x="9487959" y="1731434"/>
            <a:ext cx="172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231F"/>
                </a:solidFill>
                <a:latin typeface="IBM Plex Sans" pitchFamily="34" charset="0"/>
                <a:ea typeface="IBM Plex Sans" pitchFamily="34" charset="-122"/>
                <a:cs typeface="IBM Plex Sans" pitchFamily="34" charset="-120"/>
              </a:rPr>
              <a:t>Blockchain table</a:t>
            </a:r>
            <a:endParaRPr lang="en-US" sz="1200" dirty="0"/>
          </a:p>
        </p:txBody>
      </p:sp>
      <p:sp>
        <p:nvSpPr>
          <p:cNvPr id="25" name="Text 22"/>
          <p:cNvSpPr/>
          <p:nvPr/>
        </p:nvSpPr>
        <p:spPr>
          <a:xfrm>
            <a:off x="9487959" y="1957454"/>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Agreement ledger</a:t>
            </a:r>
            <a:endParaRPr lang="en-US" sz="1200" dirty="0"/>
          </a:p>
        </p:txBody>
      </p:sp>
      <p:sp>
        <p:nvSpPr>
          <p:cNvPr id="26" name="Shape 23"/>
          <p:cNvSpPr/>
          <p:nvPr/>
        </p:nvSpPr>
        <p:spPr>
          <a:xfrm>
            <a:off x="10326159" y="2246974"/>
            <a:ext cx="0" cy="3250473"/>
          </a:xfrm>
          <a:prstGeom prst="line">
            <a:avLst/>
          </a:prstGeom>
          <a:noFill/>
          <a:ln w="12700">
            <a:solidFill>
              <a:srgbClr val="4D7A60"/>
            </a:solidFill>
            <a:prstDash val="dash"/>
          </a:ln>
        </p:spPr>
      </p:sp>
      <p:sp>
        <p:nvSpPr>
          <p:cNvPr id="27" name="Text 24"/>
          <p:cNvSpPr/>
          <p:nvPr/>
        </p:nvSpPr>
        <p:spPr>
          <a:xfrm>
            <a:off x="3052233" y="5560947"/>
            <a:ext cx="84416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CFA6"/>
                </a:solidFill>
                <a:latin typeface="IBM Plex Sans" pitchFamily="34" charset="0"/>
                <a:ea typeface="IBM Plex Sans" pitchFamily="34" charset="-122"/>
                <a:cs typeface="IBM Plex Sans" pitchFamily="34" charset="-120"/>
              </a:rPr>
              <a:t>Inside one Oracle Autonomous AI Database 26ai on OCI</a:t>
            </a:r>
            <a:endParaRPr lang="en-US" sz="1200" dirty="0"/>
          </a:p>
        </p:txBody>
      </p:sp>
      <p:pic>
        <p:nvPicPr>
          <p:cNvPr id="28" name="Image 1" descr="connector">    </p:cNvPr>
          <p:cNvPicPr>
            <a:picLocks noChangeAspect="1"/>
          </p:cNvPicPr>
          <p:nvPr/>
        </p:nvPicPr>
        <p:blipFill>
          <a:blip r:embed="rId2"/>
          <a:srcRect l="0" r="0" t="0" b="0"/>
          <a:stretch/>
        </p:blipFill>
        <p:spPr>
          <a:xfrm>
            <a:off x="1816100" y="2679700"/>
            <a:ext cx="2209800" cy="101600"/>
          </a:xfrm>
          <a:prstGeom prst="rect">
            <a:avLst/>
          </a:prstGeom>
        </p:spPr>
      </p:pic>
      <p:sp>
        <p:nvSpPr>
          <p:cNvPr id="29" name="Text 25"/>
          <p:cNvSpPr/>
          <p:nvPr/>
        </p:nvSpPr>
        <p:spPr>
          <a:xfrm>
            <a:off x="1733550" y="2438400"/>
            <a:ext cx="2374900" cy="238720"/>
          </a:xfrm>
          <a:prstGeom prst="roundRect">
            <a:avLst>
              <a:gd name="adj" fmla="val 10640"/>
            </a:avLst>
          </a:prstGeom>
          <a:solidFill>
            <a:srgbClr val="F7F3EA"/>
          </a:solidFill>
          <a:ln/>
        </p:spPr>
        <p:txBody>
          <a:bodyPr wrap="none" lIns="48504" tIns="5261" rIns="48504" bIns="0" rtlCol="0" anchor="t">
            <a:normAutofit/>
          </a:bodyPr>
          <a:lstStyle/>
          <a:p>
            <a:pPr algn="ctr" indent="0" marL="0">
              <a:lnSpc>
                <a:spcPts val="1680"/>
              </a:lnSpc>
              <a:buNone/>
            </a:pPr>
            <a:r>
              <a:rPr lang="en-US" sz="1200" dirty="0">
                <a:solidFill>
                  <a:srgbClr val="11301F"/>
                </a:solidFill>
                <a:latin typeface="IBM Plex Sans" pitchFamily="34" charset="0"/>
                <a:ea typeface="IBM Plex Sans" pitchFamily="34" charset="-122"/>
                <a:cs typeface="IBM Plex Sans" pitchFamily="34" charset="-120"/>
              </a:rPr>
              <a:t>1 · Buyer posts a demand</a:t>
            </a:r>
            <a:endParaRPr lang="en-US" sz="1200" dirty="0"/>
          </a:p>
        </p:txBody>
      </p:sp>
      <p:pic>
        <p:nvPicPr>
          <p:cNvPr id="30" name="Image 2" descr="connector">    </p:cNvPr>
          <p:cNvPicPr>
            <a:picLocks noChangeAspect="1"/>
          </p:cNvPicPr>
          <p:nvPr/>
        </p:nvPicPr>
        <p:blipFill>
          <a:blip r:embed="rId3"/>
          <a:srcRect l="0" r="0" t="0" b="0"/>
          <a:stretch/>
        </p:blipFill>
        <p:spPr>
          <a:xfrm>
            <a:off x="3924300" y="3124200"/>
            <a:ext cx="2216150" cy="101600"/>
          </a:xfrm>
          <a:prstGeom prst="rect">
            <a:avLst/>
          </a:prstGeom>
        </p:spPr>
      </p:pic>
      <p:sp>
        <p:nvSpPr>
          <p:cNvPr id="31" name="Text 26"/>
          <p:cNvSpPr/>
          <p:nvPr/>
        </p:nvSpPr>
        <p:spPr>
          <a:xfrm>
            <a:off x="4076700" y="2882900"/>
            <a:ext cx="1917700" cy="238720"/>
          </a:xfrm>
          <a:prstGeom prst="roundRect">
            <a:avLst>
              <a:gd name="adj" fmla="val 10640"/>
            </a:avLst>
          </a:prstGeom>
          <a:solidFill>
            <a:srgbClr val="F7F3EA"/>
          </a:solidFill>
          <a:ln/>
        </p:spPr>
        <p:txBody>
          <a:bodyPr wrap="none" lIns="55362" tIns="5261" rIns="55362" bIns="0" rtlCol="0" anchor="t">
            <a:normAutofit/>
          </a:bodyPr>
          <a:lstStyle/>
          <a:p>
            <a:pPr algn="ctr" indent="0" marL="0">
              <a:lnSpc>
                <a:spcPts val="1680"/>
              </a:lnSpc>
              <a:buNone/>
            </a:pPr>
            <a:r>
              <a:rPr lang="en-US" sz="1200" dirty="0">
                <a:solidFill>
                  <a:srgbClr val="11301F"/>
                </a:solidFill>
                <a:latin typeface="IBM Plex Sans" pitchFamily="34" charset="0"/>
                <a:ea typeface="IBM Plex Sans" pitchFamily="34" charset="-122"/>
                <a:cs typeface="IBM Plex Sans" pitchFamily="34" charset="-120"/>
              </a:rPr>
              <a:t>2 · create_demand()</a:t>
            </a:r>
            <a:endParaRPr lang="en-US" sz="1200" dirty="0"/>
          </a:p>
        </p:txBody>
      </p:sp>
      <p:pic>
        <p:nvPicPr>
          <p:cNvPr id="32" name="Image 3" descr="connector">    </p:cNvPr>
          <p:cNvPicPr>
            <a:picLocks noChangeAspect="1"/>
          </p:cNvPicPr>
          <p:nvPr/>
        </p:nvPicPr>
        <p:blipFill>
          <a:blip r:embed="rId4"/>
          <a:srcRect l="0" r="0" t="0" b="0"/>
          <a:stretch/>
        </p:blipFill>
        <p:spPr>
          <a:xfrm>
            <a:off x="6038850" y="3568700"/>
            <a:ext cx="2216150" cy="101600"/>
          </a:xfrm>
          <a:prstGeom prst="rect">
            <a:avLst/>
          </a:prstGeom>
        </p:spPr>
      </p:pic>
      <p:sp>
        <p:nvSpPr>
          <p:cNvPr id="33" name="Text 27"/>
          <p:cNvSpPr/>
          <p:nvPr/>
        </p:nvSpPr>
        <p:spPr>
          <a:xfrm>
            <a:off x="5867400" y="3327400"/>
            <a:ext cx="2559050" cy="238720"/>
          </a:xfrm>
          <a:prstGeom prst="roundRect">
            <a:avLst>
              <a:gd name="adj" fmla="val 10640"/>
            </a:avLst>
          </a:prstGeom>
          <a:solidFill>
            <a:srgbClr val="F7F3EA"/>
          </a:solidFill>
          <a:ln/>
        </p:spPr>
        <p:txBody>
          <a:bodyPr wrap="none" lIns="45742" tIns="5261" rIns="45742" bIns="0" rtlCol="0" anchor="t">
            <a:normAutofit/>
          </a:bodyPr>
          <a:lstStyle/>
          <a:p>
            <a:pPr algn="ctr" indent="0" marL="0">
              <a:lnSpc>
                <a:spcPts val="1680"/>
              </a:lnSpc>
              <a:buNone/>
            </a:pPr>
            <a:r>
              <a:rPr lang="en-US" sz="1200" dirty="0">
                <a:solidFill>
                  <a:srgbClr val="11301F"/>
                </a:solidFill>
                <a:latin typeface="IBM Plex Sans" pitchFamily="34" charset="0"/>
                <a:ea typeface="IBM Plex Sans" pitchFamily="34" charset="-122"/>
                <a:cs typeface="IBM Plex Sans" pitchFamily="34" charset="-120"/>
              </a:rPr>
              <a:t>3 · Save → auto-match runs</a:t>
            </a:r>
            <a:endParaRPr lang="en-US" sz="1200" dirty="0"/>
          </a:p>
        </p:txBody>
      </p:sp>
      <p:pic>
        <p:nvPicPr>
          <p:cNvPr id="34" name="Image 4" descr="connector">    </p:cNvPr>
          <p:cNvPicPr>
            <a:picLocks noChangeAspect="1"/>
          </p:cNvPicPr>
          <p:nvPr/>
        </p:nvPicPr>
        <p:blipFill>
          <a:blip r:embed="rId5"/>
          <a:srcRect l="0" r="0" t="0" b="0"/>
          <a:stretch/>
        </p:blipFill>
        <p:spPr>
          <a:xfrm>
            <a:off x="6038850" y="4013200"/>
            <a:ext cx="2216150" cy="101600"/>
          </a:xfrm>
          <a:prstGeom prst="rect">
            <a:avLst/>
          </a:prstGeom>
        </p:spPr>
      </p:pic>
      <p:sp>
        <p:nvSpPr>
          <p:cNvPr id="35" name="Text 28"/>
          <p:cNvSpPr/>
          <p:nvPr/>
        </p:nvSpPr>
        <p:spPr>
          <a:xfrm>
            <a:off x="5638800" y="3771900"/>
            <a:ext cx="3009900" cy="238720"/>
          </a:xfrm>
          <a:prstGeom prst="roundRect">
            <a:avLst>
              <a:gd name="adj" fmla="val 10640"/>
            </a:avLst>
          </a:prstGeom>
          <a:solidFill>
            <a:srgbClr val="F7F3EA"/>
          </a:solidFill>
          <a:ln/>
        </p:spPr>
        <p:txBody>
          <a:bodyPr wrap="none" lIns="38979" tIns="5261" rIns="38979" bIns="0" rtlCol="0" anchor="t">
            <a:normAutofit/>
          </a:bodyPr>
          <a:lstStyle/>
          <a:p>
            <a:pPr algn="ctr" indent="0" marL="0">
              <a:lnSpc>
                <a:spcPts val="1680"/>
              </a:lnSpc>
              <a:buNone/>
            </a:pPr>
            <a:r>
              <a:rPr lang="en-US" sz="1200" dirty="0">
                <a:solidFill>
                  <a:srgbClr val="11301F"/>
                </a:solidFill>
                <a:latin typeface="IBM Plex Sans" pitchFamily="34" charset="0"/>
                <a:ea typeface="IBM Plex Sans" pitchFamily="34" charset="-122"/>
                <a:cs typeface="IBM Plex Sans" pitchFamily="34" charset="-120"/>
              </a:rPr>
              <a:t>4 · Rank, combine, save reasons</a:t>
            </a:r>
            <a:endParaRPr lang="en-US" sz="1200" dirty="0"/>
          </a:p>
        </p:txBody>
      </p:sp>
      <p:pic>
        <p:nvPicPr>
          <p:cNvPr id="36" name="Image 5" descr="connector">    </p:cNvPr>
          <p:cNvPicPr>
            <a:picLocks noChangeAspect="1"/>
          </p:cNvPicPr>
          <p:nvPr/>
        </p:nvPicPr>
        <p:blipFill>
          <a:blip r:embed="rId6"/>
          <a:srcRect l="0" r="0" t="0" b="0"/>
          <a:stretch/>
        </p:blipFill>
        <p:spPr>
          <a:xfrm>
            <a:off x="1816100" y="4457700"/>
            <a:ext cx="6438900" cy="101600"/>
          </a:xfrm>
          <a:prstGeom prst="rect">
            <a:avLst/>
          </a:prstGeom>
        </p:spPr>
      </p:pic>
      <p:sp>
        <p:nvSpPr>
          <p:cNvPr id="37" name="Text 29"/>
          <p:cNvSpPr/>
          <p:nvPr/>
        </p:nvSpPr>
        <p:spPr>
          <a:xfrm>
            <a:off x="3530600" y="4216400"/>
            <a:ext cx="3009900" cy="238720"/>
          </a:xfrm>
          <a:prstGeom prst="roundRect">
            <a:avLst>
              <a:gd name="adj" fmla="val 10640"/>
            </a:avLst>
          </a:prstGeom>
          <a:solidFill>
            <a:srgbClr val="8DCFA6"/>
          </a:solidFill>
          <a:ln/>
        </p:spPr>
        <p:txBody>
          <a:bodyPr wrap="none" lIns="38979" tIns="5261" rIns="38979" bIns="0" rtlCol="0" anchor="t">
            <a:normAutofit/>
          </a:bodyPr>
          <a:lstStyle/>
          <a:p>
            <a:pPr algn="ctr" indent="0" marL="0">
              <a:lnSpc>
                <a:spcPts val="1680"/>
              </a:lnSpc>
              <a:buNone/>
            </a:pPr>
            <a:r>
              <a:rPr lang="en-US" sz="1200" dirty="0">
                <a:solidFill>
                  <a:srgbClr val="11301F"/>
                </a:solidFill>
                <a:latin typeface="IBM Plex Sans" pitchFamily="34" charset="0"/>
                <a:ea typeface="IBM Plex Sans" pitchFamily="34" charset="-122"/>
                <a:cs typeface="IBM Plex Sans" pitchFamily="34" charset="-120"/>
              </a:rPr>
              <a:t>5 · Matches + reasons on screen</a:t>
            </a:r>
            <a:endParaRPr lang="en-US" sz="1200" dirty="0"/>
          </a:p>
        </p:txBody>
      </p:sp>
      <p:pic>
        <p:nvPicPr>
          <p:cNvPr id="38" name="Image 6" descr="connector">    </p:cNvPr>
          <p:cNvPicPr>
            <a:picLocks noChangeAspect="1"/>
          </p:cNvPicPr>
          <p:nvPr/>
        </p:nvPicPr>
        <p:blipFill>
          <a:blip r:embed="rId7"/>
          <a:srcRect l="0" r="0" t="0" b="0"/>
          <a:stretch/>
        </p:blipFill>
        <p:spPr>
          <a:xfrm>
            <a:off x="1816100" y="4902200"/>
            <a:ext cx="4324350" cy="101600"/>
          </a:xfrm>
          <a:prstGeom prst="rect">
            <a:avLst/>
          </a:prstGeom>
        </p:spPr>
      </p:pic>
      <p:sp>
        <p:nvSpPr>
          <p:cNvPr id="39" name="Text 30"/>
          <p:cNvSpPr/>
          <p:nvPr/>
        </p:nvSpPr>
        <p:spPr>
          <a:xfrm>
            <a:off x="2698750" y="4660900"/>
            <a:ext cx="2559050" cy="238720"/>
          </a:xfrm>
          <a:prstGeom prst="roundRect">
            <a:avLst>
              <a:gd name="adj" fmla="val 10640"/>
            </a:avLst>
          </a:prstGeom>
          <a:solidFill>
            <a:srgbClr val="F7F3EA"/>
          </a:solidFill>
          <a:ln/>
        </p:spPr>
        <p:txBody>
          <a:bodyPr wrap="none" lIns="45742" tIns="5261" rIns="45742" bIns="0" rtlCol="0" anchor="t">
            <a:normAutofit/>
          </a:bodyPr>
          <a:lstStyle/>
          <a:p>
            <a:pPr algn="ctr" indent="0" marL="0">
              <a:lnSpc>
                <a:spcPts val="1680"/>
              </a:lnSpc>
              <a:buNone/>
            </a:pPr>
            <a:r>
              <a:rPr lang="en-US" sz="1200" dirty="0">
                <a:solidFill>
                  <a:srgbClr val="11301F"/>
                </a:solidFill>
                <a:latin typeface="IBM Plex Sans" pitchFamily="34" charset="0"/>
                <a:ea typeface="IBM Plex Sans" pitchFamily="34" charset="-122"/>
                <a:cs typeface="IBM Plex Sans" pitchFamily="34" charset="-120"/>
              </a:rPr>
              <a:t>6 · Farmer confirms 650 kg</a:t>
            </a:r>
            <a:endParaRPr lang="en-US" sz="1200" dirty="0"/>
          </a:p>
        </p:txBody>
      </p:sp>
      <p:pic>
        <p:nvPicPr>
          <p:cNvPr id="40" name="Image 7" descr="connector">    </p:cNvPr>
          <p:cNvPicPr>
            <a:picLocks noChangeAspect="1"/>
          </p:cNvPicPr>
          <p:nvPr/>
        </p:nvPicPr>
        <p:blipFill>
          <a:blip r:embed="rId8"/>
          <a:srcRect l="0" r="0" t="0" b="0"/>
          <a:stretch/>
        </p:blipFill>
        <p:spPr>
          <a:xfrm>
            <a:off x="6038850" y="5346700"/>
            <a:ext cx="4330700" cy="101600"/>
          </a:xfrm>
          <a:prstGeom prst="rect">
            <a:avLst/>
          </a:prstGeom>
        </p:spPr>
      </p:pic>
      <p:sp>
        <p:nvSpPr>
          <p:cNvPr id="41" name="Text 31"/>
          <p:cNvSpPr/>
          <p:nvPr/>
        </p:nvSpPr>
        <p:spPr>
          <a:xfrm>
            <a:off x="6654800" y="5105400"/>
            <a:ext cx="3105150" cy="238720"/>
          </a:xfrm>
          <a:prstGeom prst="roundRect">
            <a:avLst>
              <a:gd name="adj" fmla="val 10640"/>
            </a:avLst>
          </a:prstGeom>
          <a:solidFill>
            <a:srgbClr val="F7F3EA"/>
          </a:solidFill>
          <a:ln/>
        </p:spPr>
        <p:txBody>
          <a:bodyPr wrap="none" lIns="37550" tIns="5261" rIns="37550" bIns="0" rtlCol="0" anchor="t">
            <a:normAutofit/>
          </a:bodyPr>
          <a:lstStyle/>
          <a:p>
            <a:pPr algn="ctr" indent="0" marL="0">
              <a:lnSpc>
                <a:spcPts val="1680"/>
              </a:lnSpc>
              <a:buNone/>
            </a:pPr>
            <a:r>
              <a:rPr lang="en-US" sz="1200" dirty="0">
                <a:solidFill>
                  <a:srgbClr val="11301F"/>
                </a:solidFill>
                <a:latin typeface="IBM Plex Sans" pitchFamily="34" charset="0"/>
                <a:ea typeface="IBM Plex Sans" pitchFamily="34" charset="-122"/>
                <a:cs typeface="IBM Plex Sans" pitchFamily="34" charset="-120"/>
              </a:rPr>
              <a:t>7 · Accepted → sealed ledger row</a:t>
            </a:r>
            <a:endParaRPr lang="en-US" sz="1200" dirty="0"/>
          </a:p>
        </p:txBody>
      </p:sp>
      <p:sp>
        <p:nvSpPr>
          <p:cNvPr id="42" name="Text 3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CFA6"/>
                </a:solidFill>
                <a:latin typeface="IBM Plex Sans" pitchFamily="34" charset="0"/>
                <a:ea typeface="IBM Plex Sans" pitchFamily="34" charset="-122"/>
                <a:cs typeface="IBM Plex Sans" pitchFamily="34" charset="-120"/>
              </a:rPr>
              <a:t>HarvestLink · Team Bora Chakula</a:t>
            </a:r>
            <a:endParaRPr lang="en-US" sz="1200" dirty="0"/>
          </a:p>
        </p:txBody>
      </p:sp>
      <p:sp>
        <p:nvSpPr>
          <p:cNvPr id="43"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CFA6"/>
                </a:solidFill>
                <a:latin typeface="IBM Plex Sans" pitchFamily="34" charset="0"/>
                <a:ea typeface="IBM Plex Sans" pitchFamily="34" charset="-122"/>
                <a:cs typeface="IBM Plex Sans" pitchFamily="34" charset="-120"/>
              </a:rPr>
              <a:t>3 / 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D34"/>
                </a:solidFill>
                <a:latin typeface="IBM Plex Sans" pitchFamily="34" charset="0"/>
                <a:ea typeface="IBM Plex Sans" pitchFamily="34" charset="-122"/>
                <a:cs typeface="IBM Plex Sans" pitchFamily="34" charset="-120"/>
              </a:rPr>
              <a:t>INNOVATION AND IMPACT</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D231F"/>
                </a:solidFill>
                <a:latin typeface="Fraunces" pitchFamily="18" charset="0"/>
                <a:ea typeface="Fraunces" pitchFamily="18" charset="-122"/>
                <a:cs typeface="Fraunces" pitchFamily="18" charset="-120"/>
              </a:rPr>
              <a:t>Demand first, every grade sold, one truck.</a:t>
            </a:r>
            <a:endParaRPr lang="en-US" sz="3200" dirty="0"/>
          </a:p>
        </p:txBody>
      </p:sp>
      <p:sp>
        <p:nvSpPr>
          <p:cNvPr id="4" name="Text 2"/>
          <p:cNvSpPr/>
          <p:nvPr/>
        </p:nvSpPr>
        <p:spPr>
          <a:xfrm>
            <a:off x="812800" y="1849041"/>
            <a:ext cx="57556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31F"/>
                </a:solidFill>
                <a:latin typeface="IBM Plex Sans" pitchFamily="34" charset="0"/>
                <a:ea typeface="IBM Plex Sans" pitchFamily="34" charset="-122"/>
                <a:cs typeface="IBM Plex Sans" pitchFamily="34" charset="-120"/>
              </a:rPr>
              <a:t>What makes it different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07155"/>
          <a:ext cx="5575300" cy="2209205"/>
        </p:xfrm>
        <a:graphic>
          <a:graphicData uri="http://schemas.openxmlformats.org/drawingml/2006/table">
            <a:tbl>
              <a:tblPr/>
              <a:tblGrid>
                <a:gridCol w="1449578"/>
                <a:gridCol w="2062861"/>
                <a:gridCol w="2062861"/>
              </a:tblGrid>
              <a:tr h="332647">
                <a:tc>
                  <a:txBody>
                    <a:bodyPr/>
                    <a:lstStyle/>
                    <a:p>
                      <a:pPr indent="0" marL="0">
                        <a:lnSpc>
                          <a:spcPts val="1680"/>
                        </a:lnSpc>
                        <a:buNone/>
                      </a:pPr>
                      <a:r>
                        <a:rPr lang="en-US" sz="1200" b="1" dirty="0">
                          <a:solidFill>
                            <a:srgbClr val="1D231F"/>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BEB9AE"/>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EB9AE"/>
                      </a:solidFill>
                      <a:prstDash val="solid"/>
                      <a:round/>
                      <a:headEnd type="none" w="med" len="med"/>
                      <a:tailEnd type="none" w="med" len="med"/>
                    </a:lnB>
                    <a:solidFill>
                      <a:srgbClr val="EEE8DA"/>
                    </a:solidFill>
                  </a:tcPr>
                </a:tc>
                <a:tc>
                  <a:txBody>
                    <a:bodyPr/>
                    <a:lstStyle/>
                    <a:p>
                      <a:pPr indent="0" marL="0">
                        <a:lnSpc>
                          <a:spcPts val="1680"/>
                        </a:lnSpc>
                        <a:buNone/>
                      </a:pPr>
                      <a:r>
                        <a:rPr lang="en-US" sz="1200" b="1" dirty="0">
                          <a:solidFill>
                            <a:srgbClr val="1D231F"/>
                          </a:solidFill>
                          <a:latin typeface="IBM Plex Sans" pitchFamily="34" charset="0"/>
                          <a:ea typeface="IBM Plex Sans" pitchFamily="34" charset="-122"/>
                          <a:cs typeface="IBM Plex Sans" pitchFamily="34" charset="-120"/>
                        </a:rPr>
                        <a:t>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B9AE"/>
                      </a:solidFill>
                      <a:prstDash val="solid"/>
                      <a:round/>
                      <a:headEnd type="none" w="med" len="med"/>
                      <a:tailEnd type="none" w="med" len="med"/>
                    </a:lnL>
                    <a:lnR w="12700" cap="flat" cmpd="sng" algn="ctr">
                      <a:solidFill>
                        <a:srgbClr val="BEB9AE"/>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EB9AE"/>
                      </a:solidFill>
                      <a:prstDash val="solid"/>
                      <a:round/>
                      <a:headEnd type="none" w="med" len="med"/>
                      <a:tailEnd type="none" w="med" len="med"/>
                    </a:lnB>
                    <a:solidFill>
                      <a:srgbClr val="EEE8DA"/>
                    </a:solidFill>
                  </a:tcPr>
                </a:tc>
                <a:tc>
                  <a:txBody>
                    <a:bodyPr/>
                    <a:lstStyle/>
                    <a:p>
                      <a:pPr indent="0" marL="0">
                        <a:lnSpc>
                          <a:spcPts val="1680"/>
                        </a:lnSpc>
                        <a:buNone/>
                      </a:pPr>
                      <a:r>
                        <a:rPr lang="en-US" sz="1200" b="1" dirty="0">
                          <a:solidFill>
                            <a:srgbClr val="1D231F"/>
                          </a:solidFill>
                          <a:latin typeface="IBM Plex Sans" pitchFamily="34" charset="0"/>
                          <a:ea typeface="IBM Plex Sans" pitchFamily="34" charset="-122"/>
                          <a:cs typeface="IBM Plex Sans" pitchFamily="34" charset="-120"/>
                        </a:rPr>
                        <a:t>HarvestLink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B9AE"/>
                      </a:solidFill>
                      <a:prstDash val="solid"/>
                      <a:round/>
                      <a:headEnd type="none" w="med" len="med"/>
                      <a:tailEnd type="none" w="med" len="med"/>
                    </a:lnL>
                    <a:lnR w="12700" cap="flat" cmpd="sng" algn="ctr">
                      <a:solidFill>
                        <a:srgbClr val="BEB9AE"/>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BEB9AE"/>
                      </a:solidFill>
                      <a:prstDash val="solid"/>
                      <a:round/>
                      <a:headEnd type="none" w="med" len="med"/>
                      <a:tailEnd type="none" w="med" len="med"/>
                    </a:lnB>
                    <a:solidFill>
                      <a:srgbClr val="EEE8DA"/>
                    </a:solidFill>
                  </a:tcPr>
                </a:tc>
              </a:tr>
              <a:tr h="332647">
                <a:tc>
                  <a:txBody>
                    <a:bodyPr/>
                    <a:lstStyle/>
                    <a:p>
                      <a:pP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Price agreed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EB9AE"/>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At harvest, by the broker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EB9AE"/>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Weeks before, by the buyer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BEB9AE"/>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r>
              <a:tr h="332647">
                <a:tc>
                  <a:txBody>
                    <a:bodyPr/>
                    <a:lstStyle/>
                    <a:p>
                      <a:pP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Large orders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One farm cannot fill them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Several farms combined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r>
              <a:tr h="545968">
                <a:tc>
                  <a:txBody>
                    <a:bodyPr/>
                    <a:lstStyle/>
                    <a:p>
                      <a:pP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Lower grades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Often dumped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Routed to markets and processors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r>
              <a:tr h="332647">
                <a:tc>
                  <a:txBody>
                    <a:bodyPr/>
                    <a:lstStyle/>
                    <a:p>
                      <a:pP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Transport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One pickup per farmer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One shared route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r>
              <a:tr h="332647">
                <a:tc>
                  <a:txBody>
                    <a:bodyPr/>
                    <a:lstStyle/>
                    <a:p>
                      <a:pP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The deal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A verbal promise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c>
                  <a:txBody>
                    <a:bodyPr/>
                    <a:lstStyle/>
                    <a:p>
                      <a:pPr indent="0" marL="0">
                        <a:lnSpc>
                          <a:spcPts val="1680"/>
                        </a:lnSpc>
                        <a:buNone/>
                      </a:pPr>
                      <a:r>
                        <a:rPr lang="en-US" sz="1200" dirty="0">
                          <a:solidFill>
                            <a:srgbClr val="1D231F"/>
                          </a:solidFill>
                          <a:latin typeface="IBM Plex Sans" pitchFamily="34" charset="0"/>
                          <a:ea typeface="IBM Plex Sans" pitchFamily="34" charset="-122"/>
                          <a:cs typeface="IBM Plex Sans" pitchFamily="34" charset="-120"/>
                        </a:rPr>
                        <a:t>A tamper-evident record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2BB"/>
                      </a:solidFill>
                      <a:prstDash val="solid"/>
                      <a:round/>
                      <a:headEnd type="none" w="med" len="med"/>
                      <a:tailEnd type="none" w="med" len="med"/>
                    </a:lnL>
                    <a:lnR w="12700" cap="flat" cmpd="sng" algn="ctr">
                      <a:solidFill>
                        <a:srgbClr val="C5C2BB"/>
                      </a:solidFill>
                      <a:prstDash val="solid"/>
                      <a:round/>
                      <a:headEnd type="none" w="med" len="med"/>
                      <a:tailEnd type="none" w="med" len="med"/>
                    </a:lnR>
                    <a:lnT w="12700" cap="flat" cmpd="sng" algn="ctr">
                      <a:solidFill>
                        <a:srgbClr val="C5C2BB"/>
                      </a:solidFill>
                      <a:prstDash val="solid"/>
                      <a:round/>
                      <a:headEnd type="none" w="med" len="med"/>
                      <a:tailEnd type="none" w="med" len="med"/>
                    </a:lnT>
                    <a:lnB w="12700" cap="flat" cmpd="sng" algn="ctr">
                      <a:solidFill>
                        <a:srgbClr val="C5C2BB"/>
                      </a:solidFill>
                      <a:prstDash val="solid"/>
                      <a:round/>
                      <a:headEnd type="none" w="med" len="med"/>
                      <a:tailEnd type="none" w="med" len="med"/>
                    </a:lnB>
                  </a:tcPr>
                </a:tc>
              </a:tr>
            </a:tbl>
          </a:graphicData>
        </a:graphic>
      </p:graphicFrame>
      <p:sp>
        <p:nvSpPr>
          <p:cNvPr id="6" name="Text 3"/>
          <p:cNvSpPr/>
          <p:nvPr/>
        </p:nvSpPr>
        <p:spPr>
          <a:xfrm>
            <a:off x="6807200" y="1849041"/>
            <a:ext cx="470916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31F"/>
                </a:solidFill>
                <a:latin typeface="IBM Plex Sans" pitchFamily="34" charset="0"/>
                <a:ea typeface="IBM Plex Sans" pitchFamily="34" charset="-122"/>
                <a:cs typeface="IBM Plex Sans" pitchFamily="34" charset="-120"/>
              </a:rPr>
              <a:t>Green outcomes we measure</a:t>
            </a:r>
            <a:endParaRPr lang="en-US" sz="1600" dirty="0"/>
          </a:p>
        </p:txBody>
      </p:sp>
      <p:sp>
        <p:nvSpPr>
          <p:cNvPr id="7" name="Shape 4"/>
          <p:cNvSpPr/>
          <p:nvPr/>
        </p:nvSpPr>
        <p:spPr>
          <a:xfrm>
            <a:off x="6807200" y="2248430"/>
            <a:ext cx="4572000" cy="0"/>
          </a:xfrm>
          <a:prstGeom prst="line">
            <a:avLst/>
          </a:prstGeom>
          <a:noFill/>
          <a:ln w="6350">
            <a:solidFill>
              <a:srgbClr val="DDD5C3"/>
            </a:solidFill>
            <a:prstDash val="solid"/>
          </a:ln>
        </p:spPr>
      </p:sp>
      <p:sp>
        <p:nvSpPr>
          <p:cNvPr id="8" name="Text 5"/>
          <p:cNvSpPr/>
          <p:nvPr/>
        </p:nvSpPr>
        <p:spPr>
          <a:xfrm>
            <a:off x="6807200" y="2351088"/>
            <a:ext cx="47091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D34"/>
                </a:solidFill>
                <a:latin typeface="IBM Plex Sans" pitchFamily="34" charset="0"/>
                <a:ea typeface="IBM Plex Sans" pitchFamily="34" charset="-122"/>
                <a:cs typeface="IBM Plex Sans" pitchFamily="34" charset="-120"/>
              </a:rPr>
              <a:t>Produce sold before harvest</a:t>
            </a:r>
            <a:endParaRPr lang="en-US" sz="1400" dirty="0"/>
          </a:p>
        </p:txBody>
      </p:sp>
      <p:sp>
        <p:nvSpPr>
          <p:cNvPr id="9" name="Text 6"/>
          <p:cNvSpPr/>
          <p:nvPr/>
        </p:nvSpPr>
        <p:spPr>
          <a:xfrm>
            <a:off x="6807200" y="2625395"/>
            <a:ext cx="470916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65C55"/>
                </a:solidFill>
                <a:latin typeface="IBM Plex Sans" pitchFamily="34" charset="0"/>
                <a:ea typeface="IBM Plex Sans" pitchFamily="34" charset="-122"/>
                <a:cs typeface="IBM Plex Sans" pitchFamily="34" charset="-120"/>
              </a:rPr>
              <a:t>kg matched to a buyer. Live from records.</a:t>
            </a:r>
            <a:endParaRPr lang="en-US" sz="1200" dirty="0"/>
          </a:p>
        </p:txBody>
      </p:sp>
      <p:sp>
        <p:nvSpPr>
          <p:cNvPr id="10" name="Shape 7"/>
          <p:cNvSpPr/>
          <p:nvPr/>
        </p:nvSpPr>
        <p:spPr>
          <a:xfrm>
            <a:off x="6807200" y="2986683"/>
            <a:ext cx="4572000" cy="0"/>
          </a:xfrm>
          <a:prstGeom prst="line">
            <a:avLst/>
          </a:prstGeom>
          <a:noFill/>
          <a:ln w="6350">
            <a:solidFill>
              <a:srgbClr val="DDD5C3"/>
            </a:solidFill>
            <a:prstDash val="solid"/>
          </a:ln>
        </p:spPr>
      </p:sp>
      <p:sp>
        <p:nvSpPr>
          <p:cNvPr id="11" name="Text 8"/>
          <p:cNvSpPr/>
          <p:nvPr/>
        </p:nvSpPr>
        <p:spPr>
          <a:xfrm>
            <a:off x="6807200" y="3089342"/>
            <a:ext cx="47091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D34"/>
                </a:solidFill>
                <a:latin typeface="IBM Plex Sans" pitchFamily="34" charset="0"/>
                <a:ea typeface="IBM Plex Sans" pitchFamily="34" charset="-122"/>
                <a:cs typeface="IBM Plex Sans" pitchFamily="34" charset="-120"/>
              </a:rPr>
              <a:t>Food loss avoided</a:t>
            </a:r>
            <a:endParaRPr lang="en-US" sz="1400" dirty="0"/>
          </a:p>
        </p:txBody>
      </p:sp>
      <p:sp>
        <p:nvSpPr>
          <p:cNvPr id="12" name="Text 9"/>
          <p:cNvSpPr/>
          <p:nvPr/>
        </p:nvSpPr>
        <p:spPr>
          <a:xfrm>
            <a:off x="6807200" y="3363649"/>
            <a:ext cx="470916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65C55"/>
                </a:solidFill>
                <a:latin typeface="IBM Plex Sans" pitchFamily="34" charset="0"/>
                <a:ea typeface="IBM Plex Sans" pitchFamily="34" charset="-122"/>
                <a:cs typeface="IBM Plex Sans" pitchFamily="34" charset="-120"/>
              </a:rPr>
              <a:t>kg matched × 28% baseline loss (IFPRI 2022). Estimated.</a:t>
            </a:r>
            <a:endParaRPr lang="en-US" sz="1200" dirty="0"/>
          </a:p>
        </p:txBody>
      </p:sp>
      <p:sp>
        <p:nvSpPr>
          <p:cNvPr id="13" name="Shape 10"/>
          <p:cNvSpPr/>
          <p:nvPr/>
        </p:nvSpPr>
        <p:spPr>
          <a:xfrm>
            <a:off x="6807200" y="3724937"/>
            <a:ext cx="4572000" cy="0"/>
          </a:xfrm>
          <a:prstGeom prst="line">
            <a:avLst/>
          </a:prstGeom>
          <a:noFill/>
          <a:ln w="6350">
            <a:solidFill>
              <a:srgbClr val="DDD5C3"/>
            </a:solidFill>
            <a:prstDash val="solid"/>
          </a:ln>
        </p:spPr>
      </p:sp>
      <p:sp>
        <p:nvSpPr>
          <p:cNvPr id="14" name="Text 11"/>
          <p:cNvSpPr/>
          <p:nvPr/>
        </p:nvSpPr>
        <p:spPr>
          <a:xfrm>
            <a:off x="6807200" y="3827596"/>
            <a:ext cx="470916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D34"/>
                </a:solidFill>
                <a:latin typeface="IBM Plex Sans" pitchFamily="34" charset="0"/>
                <a:ea typeface="IBM Plex Sans" pitchFamily="34" charset="-122"/>
                <a:cs typeface="IBM Plex Sans" pitchFamily="34" charset="-120"/>
              </a:rPr>
              <a:t>Km and CO₂ saved</a:t>
            </a:r>
            <a:endParaRPr lang="en-US" sz="1400" dirty="0"/>
          </a:p>
        </p:txBody>
      </p:sp>
      <p:sp>
        <p:nvSpPr>
          <p:cNvPr id="15" name="Text 12"/>
          <p:cNvSpPr/>
          <p:nvPr/>
        </p:nvSpPr>
        <p:spPr>
          <a:xfrm>
            <a:off x="6807200" y="4101902"/>
            <a:ext cx="470916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65C55"/>
                </a:solidFill>
                <a:latin typeface="IBM Plex Sans" pitchFamily="34" charset="0"/>
                <a:ea typeface="IBM Plex Sans" pitchFamily="34" charset="-122"/>
                <a:cs typeface="IBM Plex Sans" pitchFamily="34" charset="-120"/>
              </a:rPr>
              <a:t>Separate trips vs one route, Kenyan fleet factors (GIZ 2018). Simulated distances.</a:t>
            </a:r>
            <a:endParaRPr lang="en-US" sz="1200" dirty="0"/>
          </a:p>
        </p:txBody>
      </p:sp>
      <p:sp>
        <p:nvSpPr>
          <p:cNvPr id="16" name="Shape 13"/>
          <p:cNvSpPr/>
          <p:nvPr/>
        </p:nvSpPr>
        <p:spPr>
          <a:xfrm>
            <a:off x="6807200" y="4665729"/>
            <a:ext cx="4572000" cy="980347"/>
          </a:xfrm>
          <a:prstGeom prst="roundRect">
            <a:avLst>
              <a:gd name="adj" fmla="val 3886"/>
            </a:avLst>
          </a:prstGeom>
          <a:solidFill>
            <a:srgbClr val="DFEADF"/>
          </a:solidFill>
          <a:ln/>
        </p:spPr>
      </p:sp>
      <p:sp>
        <p:nvSpPr>
          <p:cNvPr id="17" name="Text 14"/>
          <p:cNvSpPr/>
          <p:nvPr/>
        </p:nvSpPr>
        <p:spPr>
          <a:xfrm>
            <a:off x="6959600" y="4818129"/>
            <a:ext cx="43952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D34"/>
                </a:solidFill>
                <a:latin typeface="IBM Plex Sans" pitchFamily="34" charset="0"/>
                <a:ea typeface="IBM Plex Sans" pitchFamily="34" charset="-122"/>
                <a:cs typeface="IBM Plex Sans" pitchFamily="34" charset="-120"/>
              </a:rPr>
              <a:t>How we will validate it</a:t>
            </a:r>
            <a:endParaRPr lang="en-US" sz="1200" dirty="0"/>
          </a:p>
        </p:txBody>
      </p:sp>
      <p:sp>
        <p:nvSpPr>
          <p:cNvPr id="18" name="Text 15"/>
          <p:cNvSpPr/>
          <p:nvPr/>
        </p:nvSpPr>
        <p:spPr>
          <a:xfrm>
            <a:off x="6959600" y="5082249"/>
            <a:ext cx="4395216"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D231F"/>
                </a:solidFill>
                <a:latin typeface="IBM Plex Sans" pitchFamily="34" charset="0"/>
                <a:ea typeface="IBM Plex Sans" pitchFamily="34" charset="-122"/>
                <a:cs typeface="IBM Plex Sans" pitchFamily="34" charset="-120"/>
              </a:rPr>
              <a:t>Pilot with real deliveries: compare kg sold, waste and trip records against farmers who sell to brokers.</a:t>
            </a:r>
            <a:endParaRPr lang="en-US" sz="1200" dirty="0"/>
          </a:p>
        </p:txBody>
      </p:sp>
      <p:sp>
        <p:nvSpPr>
          <p:cNvPr id="19"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HarvestLink · Team Bora Chakula</a:t>
            </a:r>
            <a:endParaRPr lang="en-US" sz="1200" dirty="0"/>
          </a:p>
        </p:txBody>
      </p:sp>
      <p:sp>
        <p:nvSpPr>
          <p:cNvPr id="20"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5C55"/>
                </a:solidFill>
                <a:latin typeface="IBM Plex Sans" pitchFamily="34" charset="0"/>
                <a:ea typeface="IBM Plex Sans" pitchFamily="34" charset="-122"/>
                <a:cs typeface="IBM Plex Sans" pitchFamily="34" charset="-120"/>
              </a:rPr>
              <a:t>4 / 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pic>
        <p:nvPicPr>
          <p:cNvPr id="2" name="Image 0" descr="A smiling farmer carries a crate of fresh vegetables">    </p:cNvPr>
          <p:cNvPicPr>
            <a:picLocks noChangeAspect="1"/>
          </p:cNvPicPr>
          <p:nvPr/>
        </p:nvPicPr>
        <p:blipFill>
          <a:blip r:embed="rId1"/>
          <a:srcRect l="0" r="0" t="0" b="0"/>
          <a:stretch/>
        </p:blipFill>
        <p:spPr>
          <a:xfrm>
            <a:off x="0" y="0"/>
            <a:ext cx="4572000" cy="6858000"/>
          </a:xfrm>
          <a:prstGeom prst="rect">
            <a:avLst/>
          </a:prstGeom>
        </p:spPr>
      </p:pic>
      <p:sp>
        <p:nvSpPr>
          <p:cNvPr id="3" name="Text 0"/>
          <p:cNvSpPr/>
          <p:nvPr/>
        </p:nvSpPr>
        <p:spPr>
          <a:xfrm>
            <a:off x="5181600" y="609600"/>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D34"/>
                </a:solidFill>
                <a:latin typeface="IBM Plex Sans" pitchFamily="34" charset="0"/>
                <a:ea typeface="IBM Plex Sans" pitchFamily="34" charset="-122"/>
                <a:cs typeface="IBM Plex Sans" pitchFamily="34" charset="-120"/>
              </a:rPr>
              <a:t>NEXT STEPS AND ASK</a:t>
            </a:r>
            <a:endParaRPr lang="en-US" sz="1200" dirty="0"/>
          </a:p>
        </p:txBody>
      </p:sp>
      <p:sp>
        <p:nvSpPr>
          <p:cNvPr id="4" name="Text 1"/>
          <p:cNvSpPr/>
          <p:nvPr>
            <p:ph type="title"/>
          </p:nvPr>
        </p:nvSpPr>
        <p:spPr>
          <a:xfrm>
            <a:off x="5181600" y="899120"/>
            <a:ext cx="6488176" cy="843227"/>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231F"/>
                </a:solidFill>
                <a:latin typeface="Fraunces" pitchFamily="18" charset="0"/>
                <a:ea typeface="Fraunces" pitchFamily="18" charset="-122"/>
                <a:cs typeface="Fraunces" pitchFamily="18" charset="-120"/>
              </a:rPr>
              <a:t>One buyer, one cooperative, one season.</a:t>
            </a:r>
            <a:endParaRPr lang="en-US" sz="2800" dirty="0"/>
          </a:p>
        </p:txBody>
      </p:sp>
      <p:sp>
        <p:nvSpPr>
          <p:cNvPr id="5" name="Shape 2"/>
          <p:cNvSpPr/>
          <p:nvPr/>
        </p:nvSpPr>
        <p:spPr>
          <a:xfrm>
            <a:off x="5181600" y="1923324"/>
            <a:ext cx="6299200" cy="0"/>
          </a:xfrm>
          <a:prstGeom prst="line">
            <a:avLst/>
          </a:prstGeom>
          <a:noFill/>
          <a:ln w="6350">
            <a:solidFill>
              <a:srgbClr val="DDD5C3"/>
            </a:solidFill>
            <a:prstDash val="solid"/>
          </a:ln>
        </p:spPr>
      </p:sp>
      <p:sp>
        <p:nvSpPr>
          <p:cNvPr id="6" name="Text 3"/>
          <p:cNvSpPr/>
          <p:nvPr/>
        </p:nvSpPr>
        <p:spPr>
          <a:xfrm>
            <a:off x="5181600" y="2051382"/>
            <a:ext cx="648817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31F"/>
                </a:solidFill>
                <a:latin typeface="IBM Plex Sans" pitchFamily="34" charset="0"/>
                <a:ea typeface="IBM Plex Sans" pitchFamily="34" charset="-122"/>
                <a:cs typeface="IBM Plex Sans" pitchFamily="34" charset="-120"/>
              </a:rPr>
              <a:t>Next step</a:t>
            </a:r>
            <a:endParaRPr lang="en-US" sz="1600" dirty="0"/>
          </a:p>
        </p:txBody>
      </p:sp>
      <p:sp>
        <p:nvSpPr>
          <p:cNvPr id="7" name="Text 4"/>
          <p:cNvSpPr/>
          <p:nvPr/>
        </p:nvSpPr>
        <p:spPr>
          <a:xfrm>
            <a:off x="5181600" y="2345996"/>
            <a:ext cx="648817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5C55"/>
                </a:solidFill>
                <a:latin typeface="IBM Plex Sans" pitchFamily="34" charset="0"/>
                <a:ea typeface="IBM Plex Sans" pitchFamily="34" charset="-122"/>
                <a:cs typeface="IBM Plex Sans" pitchFamily="34" charset="-120"/>
              </a:rPr>
              <a:t>An 8-week pilot: one Nairobi grocer, one Kirinyaga cooperative and a field agent.</a:t>
            </a:r>
            <a:endParaRPr lang="en-US" sz="1400" dirty="0"/>
          </a:p>
        </p:txBody>
      </p:sp>
      <p:sp>
        <p:nvSpPr>
          <p:cNvPr id="8" name="Shape 5"/>
          <p:cNvSpPr/>
          <p:nvPr/>
        </p:nvSpPr>
        <p:spPr>
          <a:xfrm>
            <a:off x="5181600" y="3050183"/>
            <a:ext cx="6299200" cy="0"/>
          </a:xfrm>
          <a:prstGeom prst="line">
            <a:avLst/>
          </a:prstGeom>
          <a:noFill/>
          <a:ln w="6350">
            <a:solidFill>
              <a:srgbClr val="DDD5C3"/>
            </a:solidFill>
            <a:prstDash val="solid"/>
          </a:ln>
        </p:spPr>
      </p:sp>
      <p:sp>
        <p:nvSpPr>
          <p:cNvPr id="9" name="Text 6"/>
          <p:cNvSpPr/>
          <p:nvPr/>
        </p:nvSpPr>
        <p:spPr>
          <a:xfrm>
            <a:off x="5181600" y="3178243"/>
            <a:ext cx="648817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31F"/>
                </a:solidFill>
                <a:latin typeface="IBM Plex Sans" pitchFamily="34" charset="0"/>
                <a:ea typeface="IBM Plex Sans" pitchFamily="34" charset="-122"/>
                <a:cs typeface="IBM Plex Sans" pitchFamily="34" charset="-120"/>
              </a:rPr>
              <a:t>Our ask</a:t>
            </a:r>
            <a:endParaRPr lang="en-US" sz="1600" dirty="0"/>
          </a:p>
        </p:txBody>
      </p:sp>
      <p:sp>
        <p:nvSpPr>
          <p:cNvPr id="10" name="Text 7"/>
          <p:cNvSpPr/>
          <p:nvPr/>
        </p:nvSpPr>
        <p:spPr>
          <a:xfrm>
            <a:off x="5238552" y="3472855"/>
            <a:ext cx="6423604" cy="540941"/>
          </a:xfrm>
          <a:prstGeom prst="rect">
            <a:avLst/>
          </a:prstGeom>
          <a:noFill/>
          <a:ln/>
        </p:spPr>
        <p:txBody>
          <a:bodyPr wrap="square" lIns="0" tIns="0" rIns="0" bIns="0" rtlCol="0" anchor="t">
            <a:normAutofit/>
          </a:bodyPr>
          <a:lstStyle/>
          <a:p>
            <a:pPr algn="l" marL="197048" indent="-197048">
              <a:lnSpc>
                <a:spcPts val="2030"/>
              </a:lnSpc>
              <a:buSzPct val="100000"/>
              <a:buFontTx/>
              <a:buAutoNum type="arabicPeriod" startAt="1"/>
            </a:pPr>
            <a:r>
              <a:rPr lang="en-US" sz="1400" dirty="0">
                <a:solidFill>
                  <a:srgbClr val="565C55"/>
                </a:solidFill>
                <a:latin typeface="IBM Plex Sans" pitchFamily="34" charset="0"/>
                <a:ea typeface="IBM Plex Sans" pitchFamily="34" charset="-122"/>
                <a:cs typeface="IBM Plex Sans" pitchFamily="34" charset="-120"/>
              </a:rPr>
              <a:t>Introductions to a pilot buyer and cooperative.</a:t>
            </a:r>
            <a:endParaRPr lang="en-US" sz="1400" dirty="0"/>
          </a:p>
          <a:p>
            <a:pPr algn="l" marL="197048" indent="-197048">
              <a:lnSpc>
                <a:spcPts val="2030"/>
              </a:lnSpc>
              <a:buSzPct val="100000"/>
              <a:buFontTx/>
              <a:buAutoNum type="arabicPeriod" startAt="1"/>
            </a:pPr>
            <a:r>
              <a:rPr lang="en-US" sz="1400" dirty="0">
                <a:solidFill>
                  <a:srgbClr val="565C55"/>
                </a:solidFill>
                <a:latin typeface="IBM Plex Sans" pitchFamily="34" charset="0"/>
                <a:ea typeface="IBM Plex Sans" pitchFamily="34" charset="-122"/>
                <a:cs typeface="IBM Plex Sans" pitchFamily="34" charset="-120"/>
              </a:rPr>
              <a:t>Oracle mentorship and OCI credits for production.</a:t>
            </a:r>
            <a:endParaRPr lang="en-US" sz="1400" dirty="0"/>
          </a:p>
        </p:txBody>
      </p:sp>
      <p:sp>
        <p:nvSpPr>
          <p:cNvPr id="11" name="Shape 8"/>
          <p:cNvSpPr/>
          <p:nvPr/>
        </p:nvSpPr>
        <p:spPr>
          <a:xfrm>
            <a:off x="5181600" y="4625380"/>
            <a:ext cx="6299200" cy="1623020"/>
          </a:xfrm>
          <a:prstGeom prst="roundRect">
            <a:avLst>
              <a:gd name="adj" fmla="val 2347"/>
            </a:avLst>
          </a:prstGeom>
          <a:solidFill>
            <a:srgbClr val="11301F"/>
          </a:solidFill>
          <a:ln/>
        </p:spPr>
      </p:sp>
      <p:sp>
        <p:nvSpPr>
          <p:cNvPr id="12" name="Text 9"/>
          <p:cNvSpPr/>
          <p:nvPr/>
        </p:nvSpPr>
        <p:spPr>
          <a:xfrm>
            <a:off x="5410200" y="5137218"/>
            <a:ext cx="3688842"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7F3EA"/>
                </a:solidFill>
                <a:latin typeface="Fraunces" pitchFamily="18" charset="0"/>
                <a:ea typeface="Fraunces" pitchFamily="18" charset="-122"/>
                <a:cs typeface="Fraunces" pitchFamily="18" charset="-120"/>
              </a:rPr>
              <a:t>Sell before you harvest.</a:t>
            </a:r>
            <a:endParaRPr lang="en-US" sz="2400" dirty="0"/>
          </a:p>
        </p:txBody>
      </p:sp>
      <p:sp>
        <p:nvSpPr>
          <p:cNvPr id="13" name="Text 10"/>
          <p:cNvSpPr/>
          <p:nvPr/>
        </p:nvSpPr>
        <p:spPr>
          <a:xfrm>
            <a:off x="5410200" y="5523244"/>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CFA6"/>
                </a:solidFill>
                <a:latin typeface="IBM Plex Sans" pitchFamily="34" charset="0"/>
                <a:ea typeface="IBM Plex Sans" pitchFamily="34" charset="-122"/>
                <a:cs typeface="IBM Plex Sans" pitchFamily="34" charset="-120"/>
              </a:rPr>
              <a:t>Team Bora Chakula</a:t>
            </a:r>
            <a:endParaRPr lang="en-US" sz="1200" dirty="0"/>
          </a:p>
        </p:txBody>
      </p:sp>
      <p:pic>
        <p:nvPicPr>
          <p:cNvPr id="14" name="Image 1" descr="QR code linking to the live HarvestLink app on Oracle Cloud">    </p:cNvPr>
          <p:cNvPicPr>
            <a:picLocks noChangeAspect="1"/>
          </p:cNvPicPr>
          <p:nvPr/>
        </p:nvPicPr>
        <p:blipFill>
          <a:blip r:embed="rId2"/>
          <a:srcRect l="0" r="0" t="0" b="0"/>
          <a:stretch/>
        </p:blipFill>
        <p:spPr>
          <a:xfrm>
            <a:off x="9169400" y="4828580"/>
            <a:ext cx="952500" cy="952500"/>
          </a:xfrm>
          <a:prstGeom prst="roundRect">
            <a:avLst>
              <a:gd name="adj" fmla="val 2667"/>
            </a:avLst>
          </a:prstGeom>
        </p:spPr>
      </p:pic>
      <p:sp>
        <p:nvSpPr>
          <p:cNvPr id="15" name="Text 11"/>
          <p:cNvSpPr/>
          <p:nvPr/>
        </p:nvSpPr>
        <p:spPr>
          <a:xfrm>
            <a:off x="9306005" y="5831880"/>
            <a:ext cx="67929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7F3EA"/>
                </a:solidFill>
                <a:latin typeface="IBM Plex Sans" pitchFamily="34" charset="0"/>
                <a:ea typeface="IBM Plex Sans" pitchFamily="34" charset="-122"/>
                <a:cs typeface="IBM Plex Sans" pitchFamily="34" charset="-120"/>
              </a:rPr>
              <a:t>Live app</a:t>
            </a:r>
            <a:endParaRPr lang="en-US" sz="1200" dirty="0"/>
          </a:p>
        </p:txBody>
      </p:sp>
      <p:pic>
        <p:nvPicPr>
          <p:cNvPr id="16" name="Image 2" descr="QR code linking to the HarvestLink code on GitHub">    </p:cNvPr>
          <p:cNvPicPr>
            <a:picLocks noChangeAspect="1"/>
          </p:cNvPicPr>
          <p:nvPr/>
        </p:nvPicPr>
        <p:blipFill>
          <a:blip r:embed="rId3"/>
          <a:srcRect l="0" r="0" t="0" b="0"/>
          <a:stretch/>
        </p:blipFill>
        <p:spPr>
          <a:xfrm>
            <a:off x="10299700" y="4828580"/>
            <a:ext cx="952500" cy="952500"/>
          </a:xfrm>
          <a:prstGeom prst="roundRect">
            <a:avLst>
              <a:gd name="adj" fmla="val 2667"/>
            </a:avLst>
          </a:prstGeom>
        </p:spPr>
      </p:pic>
      <p:sp>
        <p:nvSpPr>
          <p:cNvPr id="17" name="Text 12"/>
          <p:cNvSpPr/>
          <p:nvPr/>
        </p:nvSpPr>
        <p:spPr>
          <a:xfrm>
            <a:off x="10564661" y="5831880"/>
            <a:ext cx="42251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7F3EA"/>
                </a:solidFill>
                <a:latin typeface="IBM Plex Sans" pitchFamily="34" charset="0"/>
                <a:ea typeface="IBM Plex Sans" pitchFamily="34" charset="-122"/>
                <a:cs typeface="IBM Plex Sans" pitchFamily="34" charset="-120"/>
              </a:rPr>
              <a:t>Code</a:t>
            </a:r>
            <a:endParaRPr lang="en-US" sz="1200" dirty="0"/>
          </a:p>
        </p:txBody>
      </p:sp>
    </p:spTree>
  </p:cSld>
  <p:clrMapOvr>
    <a:masterClrMapping/>
  </p:clrMapOvr>
</p:sld>
</file>

<file path=ppt/theme/theme1.xml><?xml version="1.0" encoding="utf-8"?>
<a:theme xmlns:a="http://schemas.openxmlformats.org/drawingml/2006/main" name="HarvestLink pitch deck">
  <a:themeElements>
    <a:clrScheme name="HarvestLink pitch deck">
      <a:dk1>
        <a:srgbClr val="1D231F"/>
      </a:dk1>
      <a:lt1>
        <a:srgbClr val="F7F3EA"/>
      </a:lt1>
      <a:dk2>
        <a:srgbClr val="545752"/>
      </a:dk2>
      <a:lt2>
        <a:srgbClr val="E1DED6"/>
      </a:lt2>
      <a:accent1>
        <a:srgbClr val="8DCFA6"/>
      </a:accent1>
      <a:accent2>
        <a:srgbClr val="1D4D34"/>
      </a:accent2>
      <a:accent3>
        <a:srgbClr val="18402B"/>
      </a:accent3>
      <a:accent4>
        <a:srgbClr val="565C55"/>
      </a:accent4>
      <a:accent5>
        <a:srgbClr val="9AA0A6"/>
      </a:accent5>
      <a:accent6>
        <a:srgbClr val="747670"/>
      </a:accent6>
      <a:hlink>
        <a:srgbClr val="0563C1"/>
      </a:hlink>
      <a:folHlink>
        <a:srgbClr val="954F72"/>
      </a:folHlink>
    </a:clrScheme>
    <a:fontScheme name="HarvestLink pitch deck">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HarvestLink pitch deck</dc:title>
  <dc:subject/>
  <dc:creator/>
  <cp:lastModifiedBy/>
  <cp:revision>1</cp:revision>
  <dcterms:created xsi:type="dcterms:W3CDTF">2026-10-15T13:48:28Z</dcterms:created>
  <dcterms:modified xsi:type="dcterms:W3CDTF">2026-10-15T13:48:28Z</dcterms:modified>
</cp:coreProperties>
</file>